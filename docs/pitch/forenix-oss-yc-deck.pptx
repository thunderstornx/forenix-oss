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48640"/>
            <a:ext cx="7315200" cy="365760"/>
          </a:xfrm>
          <a:prstGeom prst="rect">
            <a:avLst/>
          </a:prstGeom>
          <a:noFill/>
        </p:spPr>
        <p:txBody>
          <a:bodyPr wrap="square" lIns="0" rIns="0" tIns="0" bIns="0" anchor="t">
            <a:spAutoFit/>
          </a:bodyPr>
          <a:lstStyle/>
          <a:p>
            <a:pPr algn="l"/>
            <a:r>
              <a:rPr sz="1200" b="1">
                <a:solidFill>
                  <a:srgbClr val="14B8A6"/>
                </a:solidFill>
                <a:latin typeface="Calibri"/>
              </a:rPr>
              <a:t>FORENIX-OSS</a:t>
            </a:r>
          </a:p>
        </p:txBody>
      </p:sp>
      <p:sp>
        <p:nvSpPr>
          <p:cNvPr id="4" name="TextBox 3"/>
          <p:cNvSpPr txBox="1"/>
          <p:nvPr/>
        </p:nvSpPr>
        <p:spPr>
          <a:xfrm>
            <a:off x="548640" y="2194560"/>
            <a:ext cx="10972800" cy="1371600"/>
          </a:xfrm>
          <a:prstGeom prst="rect">
            <a:avLst/>
          </a:prstGeom>
          <a:noFill/>
        </p:spPr>
        <p:txBody>
          <a:bodyPr wrap="square" lIns="0" rIns="0" tIns="0" bIns="0" anchor="t">
            <a:spAutoFit/>
          </a:bodyPr>
          <a:lstStyle/>
          <a:p>
            <a:pPr algn="l"/>
            <a:r>
              <a:rPr sz="5400" b="1">
                <a:solidFill>
                  <a:srgbClr val="E9ECF2"/>
                </a:solidFill>
                <a:latin typeface="Calibri"/>
              </a:rPr>
              <a:t>OSINT and Forensics,</a:t>
            </a:r>
          </a:p>
          <a:p>
            <a:pPr algn="l"/>
            <a:r>
              <a:rPr sz="5400" b="1">
                <a:solidFill>
                  <a:srgbClr val="E9ECF2"/>
                </a:solidFill>
                <a:latin typeface="Calibri"/>
              </a:rPr>
              <a:t>finally one workflow.</a:t>
            </a:r>
          </a:p>
        </p:txBody>
      </p:sp>
      <p:sp>
        <p:nvSpPr>
          <p:cNvPr id="5" name="TextBox 4"/>
          <p:cNvSpPr txBox="1"/>
          <p:nvPr/>
        </p:nvSpPr>
        <p:spPr>
          <a:xfrm>
            <a:off x="548640" y="3840480"/>
            <a:ext cx="10058400" cy="1371600"/>
          </a:xfrm>
          <a:prstGeom prst="rect">
            <a:avLst/>
          </a:prstGeom>
          <a:noFill/>
        </p:spPr>
        <p:txBody>
          <a:bodyPr wrap="square" lIns="0" rIns="0" tIns="0" bIns="0" anchor="t">
            <a:spAutoFit/>
          </a:bodyPr>
          <a:lstStyle/>
          <a:p>
            <a:pPr algn="l"/>
            <a:r>
              <a:rPr sz="2000" b="0">
                <a:solidFill>
                  <a:srgbClr val="9AA3B2"/>
                </a:solidFill>
                <a:latin typeface="Calibri"/>
              </a:rPr>
              <a:t>Open-source platform that turns public-source intelligence into court-admissible evidence — with a cryptographic chain of custody from finding to verdict.</a:t>
            </a:r>
          </a:p>
        </p:txBody>
      </p:sp>
      <p:sp>
        <p:nvSpPr>
          <p:cNvPr id="6" name="Rounded Rectangle 5"/>
          <p:cNvSpPr/>
          <p:nvPr/>
        </p:nvSpPr>
        <p:spPr>
          <a:xfrm>
            <a:off x="548640" y="5120640"/>
            <a:ext cx="914400" cy="292608"/>
          </a:xfrm>
          <a:prstGeom prst="roundRect">
            <a:avLst/>
          </a:prstGeom>
          <a:solidFill>
            <a:srgbClr val="0B0E13"/>
          </a:solidFill>
          <a:ln w="9525">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14B8A6"/>
                </a:solidFill>
                <a:latin typeface="Calibri"/>
              </a:rPr>
              <a:t>MIT licensed</a:t>
            </a:r>
          </a:p>
        </p:txBody>
      </p:sp>
      <p:sp>
        <p:nvSpPr>
          <p:cNvPr id="7" name="Rounded Rectangle 6"/>
          <p:cNvSpPr/>
          <p:nvPr/>
        </p:nvSpPr>
        <p:spPr>
          <a:xfrm>
            <a:off x="2194560" y="5120640"/>
            <a:ext cx="960120" cy="292608"/>
          </a:xfrm>
          <a:prstGeom prst="roundRect">
            <a:avLst/>
          </a:prstGeom>
          <a:solidFill>
            <a:srgbClr val="0B0E13"/>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34D399"/>
                </a:solidFill>
                <a:latin typeface="Calibri"/>
              </a:rPr>
              <a:t>6 AI adapters</a:t>
            </a:r>
          </a:p>
        </p:txBody>
      </p:sp>
      <p:sp>
        <p:nvSpPr>
          <p:cNvPr id="8" name="Rounded Rectangle 7"/>
          <p:cNvSpPr/>
          <p:nvPr/>
        </p:nvSpPr>
        <p:spPr>
          <a:xfrm>
            <a:off x="4114800" y="5120640"/>
            <a:ext cx="1188720" cy="292608"/>
          </a:xfrm>
          <a:prstGeom prst="roundRect">
            <a:avLst/>
          </a:prstGeom>
          <a:solidFill>
            <a:srgbClr val="0B0E13"/>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F59E0B"/>
                </a:solidFill>
                <a:latin typeface="Calibri"/>
              </a:rPr>
              <a:t>Hash-chained audit</a:t>
            </a:r>
          </a:p>
        </p:txBody>
      </p:sp>
      <p:sp>
        <p:nvSpPr>
          <p:cNvPr id="9" name="Rounded Rectangle 8"/>
          <p:cNvSpPr/>
          <p:nvPr/>
        </p:nvSpPr>
        <p:spPr>
          <a:xfrm>
            <a:off x="6400800" y="5120640"/>
            <a:ext cx="1143000" cy="292608"/>
          </a:xfrm>
          <a:prstGeom prst="roundRect">
            <a:avLst/>
          </a:prstGeom>
          <a:solidFill>
            <a:srgbClr val="0B0E13"/>
          </a:solidFill>
          <a:ln w="9525">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14B8A6"/>
                </a:solidFill>
                <a:latin typeface="Calibri"/>
              </a:rPr>
              <a:t>Self-host or SaaS</a:t>
            </a:r>
          </a:p>
        </p:txBody>
      </p:sp>
      <p:sp>
        <p:nvSpPr>
          <p:cNvPr id="10" name="TextBox 9"/>
          <p:cNvSpPr txBox="1"/>
          <p:nvPr/>
        </p:nvSpPr>
        <p:spPr>
          <a:xfrm>
            <a:off x="548640" y="6126480"/>
            <a:ext cx="10972800" cy="365760"/>
          </a:xfrm>
          <a:prstGeom prst="rect">
            <a:avLst/>
          </a:prstGeom>
          <a:noFill/>
        </p:spPr>
        <p:txBody>
          <a:bodyPr wrap="square" lIns="0" rIns="0" tIns="0" bIns="0" anchor="t">
            <a:spAutoFit/>
          </a:bodyPr>
          <a:lstStyle/>
          <a:p>
            <a:pPr algn="l"/>
            <a:r>
              <a:rPr sz="1200" b="0">
                <a:solidFill>
                  <a:srgbClr val="9AA3B2"/>
                </a:solidFill>
                <a:latin typeface="Calibri"/>
              </a:rPr>
              <a:t>Ali Murtaza Bhutto · YC Application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THE PROBLEM</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Two tools, one investigation, zero accountability.</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2/17</a:t>
            </a:r>
          </a:p>
        </p:txBody>
      </p:sp>
      <p:sp>
        <p:nvSpPr>
          <p:cNvPr id="7" name="Rounded Rectangle 6"/>
          <p:cNvSpPr/>
          <p:nvPr/>
        </p:nvSpPr>
        <p:spPr>
          <a:xfrm>
            <a:off x="548640" y="1828800"/>
            <a:ext cx="3657600" cy="310896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57400"/>
            <a:ext cx="3108960" cy="365760"/>
          </a:xfrm>
          <a:prstGeom prst="rect">
            <a:avLst/>
          </a:prstGeom>
          <a:noFill/>
        </p:spPr>
        <p:txBody>
          <a:bodyPr wrap="square" lIns="0" rIns="0" tIns="0" bIns="0" anchor="t">
            <a:spAutoFit/>
          </a:bodyPr>
          <a:lstStyle/>
          <a:p>
            <a:pPr algn="l"/>
            <a:r>
              <a:rPr sz="1100" b="1">
                <a:solidFill>
                  <a:srgbClr val="EF4444"/>
                </a:solidFill>
                <a:latin typeface="Calibri"/>
              </a:rPr>
              <a:t>WORKFLOW SPLIT</a:t>
            </a:r>
          </a:p>
        </p:txBody>
      </p:sp>
      <p:sp>
        <p:nvSpPr>
          <p:cNvPr id="9" name="TextBox 8"/>
          <p:cNvSpPr txBox="1"/>
          <p:nvPr/>
        </p:nvSpPr>
        <p:spPr>
          <a:xfrm>
            <a:off x="822960" y="2606040"/>
            <a:ext cx="3108960" cy="2194560"/>
          </a:xfrm>
          <a:prstGeom prst="rect">
            <a:avLst/>
          </a:prstGeom>
          <a:noFill/>
        </p:spPr>
        <p:txBody>
          <a:bodyPr wrap="square" lIns="0" rIns="0" tIns="0" bIns="0" anchor="t">
            <a:spAutoFit/>
          </a:bodyPr>
          <a:lstStyle/>
          <a:p>
            <a:pPr algn="l"/>
            <a:r>
              <a:rPr sz="1300" b="0">
                <a:solidFill>
                  <a:srgbClr val="E9ECF2"/>
                </a:solidFill>
                <a:latin typeface="Calibri"/>
              </a:rPr>
              <a:t>OSINT analysts use Maltego / SpiderFoot / Hunchly.</a:t>
            </a:r>
          </a:p>
          <a:p>
            <a:pPr algn="l"/>
            <a:r>
              <a:rPr sz="1300" b="0">
                <a:solidFill>
                  <a:srgbClr val="E9ECF2"/>
                </a:solidFill>
                <a:latin typeface="Calibri"/>
              </a:rPr>
              <a:t>Forensic examiners use EnCase / AXIOM / Cellebrite.</a:t>
            </a:r>
          </a:p>
          <a:p>
            <a:pPr algn="l"/>
            <a:r>
              <a:rPr sz="1300" b="0">
                <a:solidFill>
                  <a:srgbClr val="E9ECF2"/>
                </a:solidFill>
                <a:latin typeface="Calibri"/>
              </a:rPr>
              <a:t>Nothing bridges them — copy-paste is the integration.</a:t>
            </a:r>
          </a:p>
        </p:txBody>
      </p:sp>
      <p:sp>
        <p:nvSpPr>
          <p:cNvPr id="10" name="Rounded Rectangle 9"/>
          <p:cNvSpPr/>
          <p:nvPr/>
        </p:nvSpPr>
        <p:spPr>
          <a:xfrm>
            <a:off x="4389120" y="1828800"/>
            <a:ext cx="3657600" cy="310896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057400"/>
            <a:ext cx="3108960" cy="365760"/>
          </a:xfrm>
          <a:prstGeom prst="rect">
            <a:avLst/>
          </a:prstGeom>
          <a:noFill/>
        </p:spPr>
        <p:txBody>
          <a:bodyPr wrap="square" lIns="0" rIns="0" tIns="0" bIns="0" anchor="t">
            <a:spAutoFit/>
          </a:bodyPr>
          <a:lstStyle/>
          <a:p>
            <a:pPr algn="l"/>
            <a:r>
              <a:rPr sz="1100" b="1">
                <a:solidFill>
                  <a:srgbClr val="F59E0B"/>
                </a:solidFill>
                <a:latin typeface="Calibri"/>
              </a:rPr>
              <a:t>CHAIN OF CUSTODY IS ARTISANAL</a:t>
            </a:r>
          </a:p>
        </p:txBody>
      </p:sp>
      <p:sp>
        <p:nvSpPr>
          <p:cNvPr id="12" name="TextBox 11"/>
          <p:cNvSpPr txBox="1"/>
          <p:nvPr/>
        </p:nvSpPr>
        <p:spPr>
          <a:xfrm>
            <a:off x="4663440" y="2606040"/>
            <a:ext cx="3108960" cy="2194560"/>
          </a:xfrm>
          <a:prstGeom prst="rect">
            <a:avLst/>
          </a:prstGeom>
          <a:noFill/>
        </p:spPr>
        <p:txBody>
          <a:bodyPr wrap="square" lIns="0" rIns="0" tIns="0" bIns="0" anchor="t">
            <a:spAutoFit/>
          </a:bodyPr>
          <a:lstStyle/>
          <a:p>
            <a:pPr algn="l"/>
            <a:r>
              <a:rPr sz="1300" b="0">
                <a:solidFill>
                  <a:srgbClr val="E9ECF2"/>
                </a:solidFill>
                <a:latin typeface="Calibri"/>
              </a:rPr>
              <a:t>Excel spreadsheets, emailed hash digests, screenshots</a:t>
            </a:r>
          </a:p>
          <a:p>
            <a:pPr algn="l"/>
            <a:r>
              <a:rPr sz="1300" b="0">
                <a:solidFill>
                  <a:srgbClr val="E9ECF2"/>
                </a:solidFill>
                <a:latin typeface="Calibri"/>
              </a:rPr>
              <a:t>stored in shared drives. No replay. No tamper-evidence.</a:t>
            </a:r>
          </a:p>
          <a:p>
            <a:pPr algn="l"/>
            <a:r>
              <a:rPr sz="1300" b="0">
                <a:solidFill>
                  <a:srgbClr val="E9ECF2"/>
                </a:solidFill>
                <a:latin typeface="Calibri"/>
              </a:rPr>
              <a:t>Court challenges land here.</a:t>
            </a:r>
          </a:p>
        </p:txBody>
      </p:sp>
      <p:sp>
        <p:nvSpPr>
          <p:cNvPr id="13" name="Rounded Rectangle 12"/>
          <p:cNvSpPr/>
          <p:nvPr/>
        </p:nvSpPr>
        <p:spPr>
          <a:xfrm>
            <a:off x="8229600" y="1828800"/>
            <a:ext cx="3657600" cy="310896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2057400"/>
            <a:ext cx="3108960" cy="365760"/>
          </a:xfrm>
          <a:prstGeom prst="rect">
            <a:avLst/>
          </a:prstGeom>
          <a:noFill/>
        </p:spPr>
        <p:txBody>
          <a:bodyPr wrap="square" lIns="0" rIns="0" tIns="0" bIns="0" anchor="t">
            <a:spAutoFit/>
          </a:bodyPr>
          <a:lstStyle/>
          <a:p>
            <a:pPr algn="l"/>
            <a:r>
              <a:rPr sz="1100" b="1">
                <a:solidFill>
                  <a:srgbClr val="14B8A6"/>
                </a:solidFill>
                <a:latin typeface="Calibri"/>
              </a:rPr>
              <a:t>VENDOR LOCK + COST WALL</a:t>
            </a:r>
          </a:p>
        </p:txBody>
      </p:sp>
      <p:sp>
        <p:nvSpPr>
          <p:cNvPr id="15" name="TextBox 14"/>
          <p:cNvSpPr txBox="1"/>
          <p:nvPr/>
        </p:nvSpPr>
        <p:spPr>
          <a:xfrm>
            <a:off x="8503920" y="2606040"/>
            <a:ext cx="3108960" cy="2194560"/>
          </a:xfrm>
          <a:prstGeom prst="rect">
            <a:avLst/>
          </a:prstGeom>
          <a:noFill/>
        </p:spPr>
        <p:txBody>
          <a:bodyPr wrap="square" lIns="0" rIns="0" tIns="0" bIns="0" anchor="t">
            <a:spAutoFit/>
          </a:bodyPr>
          <a:lstStyle/>
          <a:p>
            <a:pPr algn="l"/>
            <a:r>
              <a:rPr sz="1300" b="0">
                <a:solidFill>
                  <a:srgbClr val="E9ECF2"/>
                </a:solidFill>
                <a:latin typeface="Calibri"/>
              </a:rPr>
              <a:t>EnCase + AXIOM + Maltego = 5–6 figure annual spend.</a:t>
            </a:r>
          </a:p>
          <a:p>
            <a:pPr algn="l"/>
            <a:r>
              <a:rPr sz="1300" b="0">
                <a:solidFill>
                  <a:srgbClr val="E9ECF2"/>
                </a:solidFill>
                <a:latin typeface="Calibri"/>
              </a:rPr>
              <a:t>Smaller investigators, journalists, NGOs are priced out.</a:t>
            </a:r>
          </a:p>
          <a:p>
            <a:pPr algn="l"/>
            <a:r>
              <a:rPr sz="1300" b="0">
                <a:solidFill>
                  <a:srgbClr val="E9ECF2"/>
                </a:solidFill>
                <a:latin typeface="Calibri"/>
              </a:rPr>
              <a:t>AI features are gated behind enterprise tiers.</a:t>
            </a:r>
          </a:p>
        </p:txBody>
      </p:sp>
      <p:sp>
        <p:nvSpPr>
          <p:cNvPr id="16" name="TextBox 15"/>
          <p:cNvSpPr txBox="1"/>
          <p:nvPr/>
        </p:nvSpPr>
        <p:spPr>
          <a:xfrm>
            <a:off x="548640" y="5394960"/>
            <a:ext cx="11064240" cy="914400"/>
          </a:xfrm>
          <a:prstGeom prst="rect">
            <a:avLst/>
          </a:prstGeom>
          <a:noFill/>
        </p:spPr>
        <p:txBody>
          <a:bodyPr wrap="square" lIns="0" rIns="0" tIns="0" bIns="0" anchor="t">
            <a:spAutoFit/>
          </a:bodyPr>
          <a:lstStyle/>
          <a:p>
            <a:pPr algn="l"/>
            <a:r>
              <a:rPr sz="1800" b="0">
                <a:solidFill>
                  <a:srgbClr val="9AA3B2"/>
                </a:solidFill>
                <a:latin typeface="Calibri"/>
              </a:rPr>
              <a:t>The deal: "We found it on the open web, here's the screenshot, trust us."</a:t>
            </a:r>
          </a:p>
          <a:p>
            <a:pPr algn="l"/>
            <a:r>
              <a:rPr sz="1800" b="0">
                <a:solidFill>
                  <a:srgbClr val="9AA3B2"/>
                </a:solidFill>
                <a:latin typeface="Calibri"/>
              </a:rPr>
              <a:t>That's not an audit trail. That's a vibe.</a:t>
            </a:r>
          </a:p>
        </p:txBody>
      </p:sp>
      <p:sp>
        <p:nvSpPr>
          <p:cNvPr id="17" name="TextBox 16"/>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THE SOLUTION</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One platform owns the journey from lead to verdict.</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3/17</a:t>
            </a:r>
          </a:p>
        </p:txBody>
      </p:sp>
      <p:sp>
        <p:nvSpPr>
          <p:cNvPr id="7" name="TextBox 6"/>
          <p:cNvSpPr txBox="1"/>
          <p:nvPr/>
        </p:nvSpPr>
        <p:spPr>
          <a:xfrm>
            <a:off x="640080" y="1783080"/>
            <a:ext cx="640080" cy="457200"/>
          </a:xfrm>
          <a:prstGeom prst="rect">
            <a:avLst/>
          </a:prstGeom>
          <a:noFill/>
        </p:spPr>
        <p:txBody>
          <a:bodyPr wrap="square" lIns="0" rIns="0" tIns="0" bIns="0" anchor="t">
            <a:spAutoFit/>
          </a:bodyPr>
          <a:lstStyle/>
          <a:p>
            <a:pPr algn="l"/>
            <a:r>
              <a:rPr sz="2200" b="1">
                <a:solidFill>
                  <a:srgbClr val="14B8A6"/>
                </a:solidFill>
                <a:latin typeface="Calibri"/>
              </a:rPr>
              <a:t>01.</a:t>
            </a:r>
          </a:p>
        </p:txBody>
      </p:sp>
      <p:sp>
        <p:nvSpPr>
          <p:cNvPr id="8" name="TextBox 7"/>
          <p:cNvSpPr txBox="1"/>
          <p:nvPr/>
        </p:nvSpPr>
        <p:spPr>
          <a:xfrm>
            <a:off x="1280160" y="1783080"/>
            <a:ext cx="10058400" cy="457200"/>
          </a:xfrm>
          <a:prstGeom prst="rect">
            <a:avLst/>
          </a:prstGeom>
          <a:noFill/>
        </p:spPr>
        <p:txBody>
          <a:bodyPr wrap="square" lIns="0" rIns="0" tIns="0" bIns="0" anchor="t">
            <a:spAutoFit/>
          </a:bodyPr>
          <a:lstStyle/>
          <a:p>
            <a:pPr algn="l"/>
            <a:r>
              <a:rPr sz="1800" b="1">
                <a:solidFill>
                  <a:srgbClr val="E9ECF2"/>
                </a:solidFill>
                <a:latin typeface="Calibri"/>
              </a:rPr>
              <a:t>Run the OSINT pipeline.</a:t>
            </a:r>
          </a:p>
        </p:txBody>
      </p:sp>
      <p:sp>
        <p:nvSpPr>
          <p:cNvPr id="9" name="TextBox 8"/>
          <p:cNvSpPr txBox="1"/>
          <p:nvPr/>
        </p:nvSpPr>
        <p:spPr>
          <a:xfrm>
            <a:off x="1280160" y="2194560"/>
            <a:ext cx="10058400" cy="365760"/>
          </a:xfrm>
          <a:prstGeom prst="rect">
            <a:avLst/>
          </a:prstGeom>
          <a:noFill/>
        </p:spPr>
        <p:txBody>
          <a:bodyPr wrap="square" lIns="0" rIns="0" tIns="0" bIns="0" anchor="t">
            <a:spAutoFit/>
          </a:bodyPr>
          <a:lstStyle/>
          <a:p>
            <a:pPr algn="l"/>
            <a:r>
              <a:rPr sz="1300" b="0">
                <a:solidFill>
                  <a:srgbClr val="9AA3B2"/>
                </a:solidFill>
                <a:latin typeface="Calibri"/>
              </a:rPr>
              <a:t>7 agent groups in parallel through one swappable AI adapter.</a:t>
            </a:r>
          </a:p>
        </p:txBody>
      </p:sp>
      <p:sp>
        <p:nvSpPr>
          <p:cNvPr id="10" name="TextBox 9"/>
          <p:cNvSpPr txBox="1"/>
          <p:nvPr/>
        </p:nvSpPr>
        <p:spPr>
          <a:xfrm>
            <a:off x="640080" y="2651760"/>
            <a:ext cx="640080" cy="457200"/>
          </a:xfrm>
          <a:prstGeom prst="rect">
            <a:avLst/>
          </a:prstGeom>
          <a:noFill/>
        </p:spPr>
        <p:txBody>
          <a:bodyPr wrap="square" lIns="0" rIns="0" tIns="0" bIns="0" anchor="t">
            <a:spAutoFit/>
          </a:bodyPr>
          <a:lstStyle/>
          <a:p>
            <a:pPr algn="l"/>
            <a:r>
              <a:rPr sz="2200" b="1">
                <a:solidFill>
                  <a:srgbClr val="14B8A6"/>
                </a:solidFill>
                <a:latin typeface="Calibri"/>
              </a:rPr>
              <a:t>02.</a:t>
            </a:r>
          </a:p>
        </p:txBody>
      </p:sp>
      <p:sp>
        <p:nvSpPr>
          <p:cNvPr id="11" name="TextBox 10"/>
          <p:cNvSpPr txBox="1"/>
          <p:nvPr/>
        </p:nvSpPr>
        <p:spPr>
          <a:xfrm>
            <a:off x="1280160" y="2651760"/>
            <a:ext cx="10058400" cy="457200"/>
          </a:xfrm>
          <a:prstGeom prst="rect">
            <a:avLst/>
          </a:prstGeom>
          <a:noFill/>
        </p:spPr>
        <p:txBody>
          <a:bodyPr wrap="square" lIns="0" rIns="0" tIns="0" bIns="0" anchor="t">
            <a:spAutoFit/>
          </a:bodyPr>
          <a:lstStyle/>
          <a:p>
            <a:pPr algn="l"/>
            <a:r>
              <a:rPr sz="1800" b="1">
                <a:solidFill>
                  <a:srgbClr val="E9ECF2"/>
                </a:solidFill>
                <a:latin typeface="Calibri"/>
              </a:rPr>
              <a:t>Capture findings with provenance.</a:t>
            </a:r>
          </a:p>
        </p:txBody>
      </p:sp>
      <p:sp>
        <p:nvSpPr>
          <p:cNvPr id="12" name="TextBox 11"/>
          <p:cNvSpPr txBox="1"/>
          <p:nvPr/>
        </p:nvSpPr>
        <p:spPr>
          <a:xfrm>
            <a:off x="1280160" y="3063240"/>
            <a:ext cx="10058400" cy="365760"/>
          </a:xfrm>
          <a:prstGeom prst="rect">
            <a:avLst/>
          </a:prstGeom>
          <a:noFill/>
        </p:spPr>
        <p:txBody>
          <a:bodyPr wrap="square" lIns="0" rIns="0" tIns="0" bIns="0" anchor="t">
            <a:spAutoFit/>
          </a:bodyPr>
          <a:lstStyle/>
          <a:p>
            <a:pPr algn="l"/>
            <a:r>
              <a:rPr sz="1300" b="0">
                <a:solidFill>
                  <a:srgbClr val="9AA3B2"/>
                </a:solidFill>
                <a:latin typeface="Calibri"/>
              </a:rPr>
              <a:t>Each finding carries confidence, source URLs, agent group, reasoning trace.</a:t>
            </a:r>
          </a:p>
        </p:txBody>
      </p:sp>
      <p:sp>
        <p:nvSpPr>
          <p:cNvPr id="13" name="TextBox 12"/>
          <p:cNvSpPr txBox="1"/>
          <p:nvPr/>
        </p:nvSpPr>
        <p:spPr>
          <a:xfrm>
            <a:off x="640080" y="3520440"/>
            <a:ext cx="640080" cy="457200"/>
          </a:xfrm>
          <a:prstGeom prst="rect">
            <a:avLst/>
          </a:prstGeom>
          <a:noFill/>
        </p:spPr>
        <p:txBody>
          <a:bodyPr wrap="square" lIns="0" rIns="0" tIns="0" bIns="0" anchor="t">
            <a:spAutoFit/>
          </a:bodyPr>
          <a:lstStyle/>
          <a:p>
            <a:pPr algn="l"/>
            <a:r>
              <a:rPr sz="2200" b="1">
                <a:solidFill>
                  <a:srgbClr val="14B8A6"/>
                </a:solidFill>
                <a:latin typeface="Calibri"/>
              </a:rPr>
              <a:t>03.</a:t>
            </a:r>
          </a:p>
        </p:txBody>
      </p:sp>
      <p:sp>
        <p:nvSpPr>
          <p:cNvPr id="14" name="TextBox 13"/>
          <p:cNvSpPr txBox="1"/>
          <p:nvPr/>
        </p:nvSpPr>
        <p:spPr>
          <a:xfrm>
            <a:off x="1280160" y="3520440"/>
            <a:ext cx="10058400" cy="457200"/>
          </a:xfrm>
          <a:prstGeom prst="rect">
            <a:avLst/>
          </a:prstGeom>
          <a:noFill/>
        </p:spPr>
        <p:txBody>
          <a:bodyPr wrap="square" lIns="0" rIns="0" tIns="0" bIns="0" anchor="t">
            <a:spAutoFit/>
          </a:bodyPr>
          <a:lstStyle/>
          <a:p>
            <a:pPr algn="l"/>
            <a:r>
              <a:rPr sz="1800" b="1">
                <a:solidFill>
                  <a:srgbClr val="E9ECF2"/>
                </a:solidFill>
                <a:latin typeface="Calibri"/>
              </a:rPr>
              <a:t>Promote to forensic evidence.</a:t>
            </a:r>
          </a:p>
        </p:txBody>
      </p:sp>
      <p:sp>
        <p:nvSpPr>
          <p:cNvPr id="15" name="TextBox 14"/>
          <p:cNvSpPr txBox="1"/>
          <p:nvPr/>
        </p:nvSpPr>
        <p:spPr>
          <a:xfrm>
            <a:off x="1280160" y="3931920"/>
            <a:ext cx="10058400" cy="365760"/>
          </a:xfrm>
          <a:prstGeom prst="rect">
            <a:avLst/>
          </a:prstGeom>
          <a:noFill/>
        </p:spPr>
        <p:txBody>
          <a:bodyPr wrap="square" lIns="0" rIns="0" tIns="0" bIns="0" anchor="t">
            <a:spAutoFit/>
          </a:bodyPr>
          <a:lstStyle/>
          <a:p>
            <a:pPr algn="l"/>
            <a:r>
              <a:rPr sz="1300" b="0">
                <a:solidFill>
                  <a:srgbClr val="9AA3B2"/>
                </a:solidFill>
                <a:latin typeface="Calibri"/>
              </a:rPr>
              <a:t>One click bridges a finding into a Case with hash + commit on its own branch.</a:t>
            </a:r>
          </a:p>
        </p:txBody>
      </p:sp>
      <p:sp>
        <p:nvSpPr>
          <p:cNvPr id="16" name="TextBox 15"/>
          <p:cNvSpPr txBox="1"/>
          <p:nvPr/>
        </p:nvSpPr>
        <p:spPr>
          <a:xfrm>
            <a:off x="640080" y="4389119"/>
            <a:ext cx="640080" cy="457200"/>
          </a:xfrm>
          <a:prstGeom prst="rect">
            <a:avLst/>
          </a:prstGeom>
          <a:noFill/>
        </p:spPr>
        <p:txBody>
          <a:bodyPr wrap="square" lIns="0" rIns="0" tIns="0" bIns="0" anchor="t">
            <a:spAutoFit/>
          </a:bodyPr>
          <a:lstStyle/>
          <a:p>
            <a:pPr algn="l"/>
            <a:r>
              <a:rPr sz="2200" b="1">
                <a:solidFill>
                  <a:srgbClr val="14B8A6"/>
                </a:solidFill>
                <a:latin typeface="Calibri"/>
              </a:rPr>
              <a:t>04.</a:t>
            </a:r>
          </a:p>
        </p:txBody>
      </p:sp>
      <p:sp>
        <p:nvSpPr>
          <p:cNvPr id="17" name="TextBox 16"/>
          <p:cNvSpPr txBox="1"/>
          <p:nvPr/>
        </p:nvSpPr>
        <p:spPr>
          <a:xfrm>
            <a:off x="1280160" y="4389119"/>
            <a:ext cx="10058400" cy="457200"/>
          </a:xfrm>
          <a:prstGeom prst="rect">
            <a:avLst/>
          </a:prstGeom>
          <a:noFill/>
        </p:spPr>
        <p:txBody>
          <a:bodyPr wrap="square" lIns="0" rIns="0" tIns="0" bIns="0" anchor="t">
            <a:spAutoFit/>
          </a:bodyPr>
          <a:lstStyle/>
          <a:p>
            <a:pPr algn="l"/>
            <a:r>
              <a:rPr sz="1800" b="1">
                <a:solidFill>
                  <a:srgbClr val="E9ECF2"/>
                </a:solidFill>
                <a:latin typeface="Calibri"/>
              </a:rPr>
              <a:t>Lock the chain.</a:t>
            </a:r>
          </a:p>
        </p:txBody>
      </p:sp>
      <p:sp>
        <p:nvSpPr>
          <p:cNvPr id="18" name="TextBox 17"/>
          <p:cNvSpPr txBox="1"/>
          <p:nvPr/>
        </p:nvSpPr>
        <p:spPr>
          <a:xfrm>
            <a:off x="1280160" y="4800599"/>
            <a:ext cx="10058400" cy="365760"/>
          </a:xfrm>
          <a:prstGeom prst="rect">
            <a:avLst/>
          </a:prstGeom>
          <a:noFill/>
        </p:spPr>
        <p:txBody>
          <a:bodyPr wrap="square" lIns="0" rIns="0" tIns="0" bIns="0" anchor="t">
            <a:spAutoFit/>
          </a:bodyPr>
          <a:lstStyle/>
          <a:p>
            <a:pPr algn="l"/>
            <a:r>
              <a:rPr sz="1300" b="0">
                <a:solidFill>
                  <a:srgbClr val="9AA3B2"/>
                </a:solidFill>
                <a:latin typeface="Calibri"/>
              </a:rPr>
              <a:t>Every write appends a SHA-256 forward-chained audit row. Replay verifies.</a:t>
            </a:r>
          </a:p>
        </p:txBody>
      </p:sp>
      <p:sp>
        <p:nvSpPr>
          <p:cNvPr id="19" name="TextBox 18"/>
          <p:cNvSpPr txBox="1"/>
          <p:nvPr/>
        </p:nvSpPr>
        <p:spPr>
          <a:xfrm>
            <a:off x="640080" y="5257800"/>
            <a:ext cx="640080" cy="457200"/>
          </a:xfrm>
          <a:prstGeom prst="rect">
            <a:avLst/>
          </a:prstGeom>
          <a:noFill/>
        </p:spPr>
        <p:txBody>
          <a:bodyPr wrap="square" lIns="0" rIns="0" tIns="0" bIns="0" anchor="t">
            <a:spAutoFit/>
          </a:bodyPr>
          <a:lstStyle/>
          <a:p>
            <a:pPr algn="l"/>
            <a:r>
              <a:rPr sz="2200" b="1">
                <a:solidFill>
                  <a:srgbClr val="14B8A6"/>
                </a:solidFill>
                <a:latin typeface="Calibri"/>
              </a:rPr>
              <a:t>05.</a:t>
            </a:r>
          </a:p>
        </p:txBody>
      </p:sp>
      <p:sp>
        <p:nvSpPr>
          <p:cNvPr id="20" name="TextBox 19"/>
          <p:cNvSpPr txBox="1"/>
          <p:nvPr/>
        </p:nvSpPr>
        <p:spPr>
          <a:xfrm>
            <a:off x="1280160" y="5257800"/>
            <a:ext cx="10058400" cy="457200"/>
          </a:xfrm>
          <a:prstGeom prst="rect">
            <a:avLst/>
          </a:prstGeom>
          <a:noFill/>
        </p:spPr>
        <p:txBody>
          <a:bodyPr wrap="square" lIns="0" rIns="0" tIns="0" bIns="0" anchor="t">
            <a:spAutoFit/>
          </a:bodyPr>
          <a:lstStyle/>
          <a:p>
            <a:pPr algn="l"/>
            <a:r>
              <a:rPr sz="1800" b="1">
                <a:solidFill>
                  <a:srgbClr val="E9ECF2"/>
                </a:solidFill>
                <a:latin typeface="Calibri"/>
              </a:rPr>
              <a:t>Sign-off + export.</a:t>
            </a:r>
          </a:p>
        </p:txBody>
      </p:sp>
      <p:sp>
        <p:nvSpPr>
          <p:cNvPr id="21" name="TextBox 20"/>
          <p:cNvSpPr txBox="1"/>
          <p:nvPr/>
        </p:nvSpPr>
        <p:spPr>
          <a:xfrm>
            <a:off x="1280160" y="5669280"/>
            <a:ext cx="10058400" cy="365760"/>
          </a:xfrm>
          <a:prstGeom prst="rect">
            <a:avLst/>
          </a:prstGeom>
          <a:noFill/>
        </p:spPr>
        <p:txBody>
          <a:bodyPr wrap="square" lIns="0" rIns="0" tIns="0" bIns="0" anchor="t">
            <a:spAutoFit/>
          </a:bodyPr>
          <a:lstStyle/>
          <a:p>
            <a:pPr algn="l"/>
            <a:r>
              <a:rPr sz="1300" b="0">
                <a:solidFill>
                  <a:srgbClr val="9AA3B2"/>
                </a:solidFill>
                <a:latin typeface="Calibri"/>
              </a:rPr>
              <a:t>Merge-request review on evidence branches; markdown / PDF reports.</a:t>
            </a:r>
          </a:p>
        </p:txBody>
      </p:sp>
      <p:sp>
        <p:nvSpPr>
          <p:cNvPr id="22" name="TextBox 21"/>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src/lib/audit-chain.ts · sha256(prevHash | action | entity | entityId | iso(t))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PRODUCT · VIEW 1</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Dashboard.</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4/17</a:t>
            </a:r>
          </a:p>
        </p:txBody>
      </p:sp>
      <p:pic>
        <p:nvPicPr>
          <p:cNvPr id="7" name="Picture 6" descr="01-dashboard.png"/>
          <p:cNvPicPr>
            <a:picLocks noChangeAspect="1"/>
          </p:cNvPicPr>
          <p:nvPr/>
        </p:nvPicPr>
        <p:blipFill>
          <a:blip r:embed="rId2"/>
          <a:stretch>
            <a:fillRect/>
          </a:stretch>
        </p:blipFill>
        <p:spPr>
          <a:xfrm>
            <a:off x="548640" y="1828800"/>
            <a:ext cx="6949440" cy="4343400"/>
          </a:xfrm>
          <a:prstGeom prst="rect">
            <a:avLst/>
          </a:prstGeom>
        </p:spPr>
      </p:pic>
      <p:sp>
        <p:nvSpPr>
          <p:cNvPr id="8" name="TextBox 7"/>
          <p:cNvSpPr txBox="1"/>
          <p:nvPr/>
        </p:nvSpPr>
        <p:spPr>
          <a:xfrm>
            <a:off x="7863840" y="1828800"/>
            <a:ext cx="3749039" cy="365760"/>
          </a:xfrm>
          <a:prstGeom prst="rect">
            <a:avLst/>
          </a:prstGeom>
          <a:noFill/>
        </p:spPr>
        <p:txBody>
          <a:bodyPr wrap="square" lIns="0" rIns="0" tIns="0" bIns="0" anchor="t">
            <a:spAutoFit/>
          </a:bodyPr>
          <a:lstStyle/>
          <a:p>
            <a:pPr algn="l"/>
            <a:r>
              <a:rPr sz="1000" b="1">
                <a:solidFill>
                  <a:srgbClr val="14B8A6"/>
                </a:solidFill>
                <a:latin typeface="Calibri"/>
              </a:rPr>
              <a:t>SINGLE PANE</a:t>
            </a:r>
          </a:p>
        </p:txBody>
      </p:sp>
      <p:sp>
        <p:nvSpPr>
          <p:cNvPr id="9" name="TextBox 8"/>
          <p:cNvSpPr txBox="1"/>
          <p:nvPr/>
        </p:nvSpPr>
        <p:spPr>
          <a:xfrm>
            <a:off x="7863840" y="2194560"/>
            <a:ext cx="3749039" cy="548640"/>
          </a:xfrm>
          <a:prstGeom prst="rect">
            <a:avLst/>
          </a:prstGeom>
          <a:noFill/>
        </p:spPr>
        <p:txBody>
          <a:bodyPr wrap="square" lIns="0" rIns="0" tIns="0" bIns="0" anchor="t">
            <a:spAutoFit/>
          </a:bodyPr>
          <a:lstStyle/>
          <a:p>
            <a:pPr algn="l"/>
            <a:r>
              <a:rPr sz="1600" b="1">
                <a:solidFill>
                  <a:srgbClr val="E9ECF2"/>
                </a:solidFill>
                <a:latin typeface="Calibri"/>
              </a:rPr>
              <a:t>Both workflows on one screen.</a:t>
            </a:r>
          </a:p>
        </p:txBody>
      </p:sp>
      <p:sp>
        <p:nvSpPr>
          <p:cNvPr id="10" name="TextBox 9"/>
          <p:cNvSpPr txBox="1"/>
          <p:nvPr/>
        </p:nvSpPr>
        <p:spPr>
          <a:xfrm>
            <a:off x="7863840" y="2834640"/>
            <a:ext cx="3749039" cy="3200400"/>
          </a:xfrm>
          <a:prstGeom prst="rect">
            <a:avLst/>
          </a:prstGeom>
          <a:noFill/>
        </p:spPr>
        <p:txBody>
          <a:bodyPr wrap="square" lIns="0" rIns="0" tIns="0" bIns="0" anchor="t">
            <a:spAutoFit/>
          </a:bodyPr>
          <a:lstStyle/>
          <a:p>
            <a:pPr algn="l"/>
            <a:r>
              <a:rPr sz="1200" b="0">
                <a:solidFill>
                  <a:srgbClr val="E9ECF2"/>
                </a:solidFill>
                <a:latin typeface="Calibri"/>
              </a:rPr>
              <a:t>Live counts pulled straight from the database. How many investigations are open, how many are bridged to a case, how many evidence items live across all cases, which AI adapter is active right now. Click any row to drill in.</a:t>
            </a:r>
          </a:p>
        </p:txBody>
      </p:sp>
      <p:sp>
        <p:nvSpPr>
          <p:cNvPr id="11" name="TextBox 10"/>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PRODUCT · VIEW 2</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Pipeline runner.</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5/17</a:t>
            </a:r>
          </a:p>
        </p:txBody>
      </p:sp>
      <p:pic>
        <p:nvPicPr>
          <p:cNvPr id="7" name="Picture 6" descr="03-pipeline.png"/>
          <p:cNvPicPr>
            <a:picLocks noChangeAspect="1"/>
          </p:cNvPicPr>
          <p:nvPr/>
        </p:nvPicPr>
        <p:blipFill>
          <a:blip r:embed="rId2"/>
          <a:stretch>
            <a:fillRect/>
          </a:stretch>
        </p:blipFill>
        <p:spPr>
          <a:xfrm>
            <a:off x="548640" y="1828800"/>
            <a:ext cx="6949440" cy="4343400"/>
          </a:xfrm>
          <a:prstGeom prst="rect">
            <a:avLst/>
          </a:prstGeom>
        </p:spPr>
      </p:pic>
      <p:sp>
        <p:nvSpPr>
          <p:cNvPr id="8" name="TextBox 7"/>
          <p:cNvSpPr txBox="1"/>
          <p:nvPr/>
        </p:nvSpPr>
        <p:spPr>
          <a:xfrm>
            <a:off x="7863840" y="1828800"/>
            <a:ext cx="3749039" cy="365760"/>
          </a:xfrm>
          <a:prstGeom prst="rect">
            <a:avLst/>
          </a:prstGeom>
          <a:noFill/>
        </p:spPr>
        <p:txBody>
          <a:bodyPr wrap="square" lIns="0" rIns="0" tIns="0" bIns="0" anchor="t">
            <a:spAutoFit/>
          </a:bodyPr>
          <a:lstStyle/>
          <a:p>
            <a:pPr algn="l"/>
            <a:r>
              <a:rPr sz="1000" b="1">
                <a:solidFill>
                  <a:srgbClr val="14B8A6"/>
                </a:solidFill>
                <a:latin typeface="Calibri"/>
              </a:rPr>
              <a:t>OSINT IN ONE CLICK</a:t>
            </a:r>
          </a:p>
        </p:txBody>
      </p:sp>
      <p:sp>
        <p:nvSpPr>
          <p:cNvPr id="9" name="TextBox 8"/>
          <p:cNvSpPr txBox="1"/>
          <p:nvPr/>
        </p:nvSpPr>
        <p:spPr>
          <a:xfrm>
            <a:off x="7863840" y="2194560"/>
            <a:ext cx="3749039" cy="548640"/>
          </a:xfrm>
          <a:prstGeom prst="rect">
            <a:avLst/>
          </a:prstGeom>
          <a:noFill/>
        </p:spPr>
        <p:txBody>
          <a:bodyPr wrap="square" lIns="0" rIns="0" tIns="0" bIns="0" anchor="t">
            <a:spAutoFit/>
          </a:bodyPr>
          <a:lstStyle/>
          <a:p>
            <a:pPr algn="l"/>
            <a:r>
              <a:rPr sz="1600" b="1">
                <a:solidFill>
                  <a:srgbClr val="E9ECF2"/>
                </a:solidFill>
                <a:latin typeface="Calibri"/>
              </a:rPr>
              <a:t>Six adapters. One button.</a:t>
            </a:r>
          </a:p>
        </p:txBody>
      </p:sp>
      <p:sp>
        <p:nvSpPr>
          <p:cNvPr id="10" name="TextBox 9"/>
          <p:cNvSpPr txBox="1"/>
          <p:nvPr/>
        </p:nvSpPr>
        <p:spPr>
          <a:xfrm>
            <a:off x="7863840" y="2834640"/>
            <a:ext cx="3749039" cy="3200400"/>
          </a:xfrm>
          <a:prstGeom prst="rect">
            <a:avLst/>
          </a:prstGeom>
          <a:noFill/>
        </p:spPr>
        <p:txBody>
          <a:bodyPr wrap="square" lIns="0" rIns="0" tIns="0" bIns="0" anchor="t">
            <a:spAutoFit/>
          </a:bodyPr>
          <a:lstStyle/>
          <a:p>
            <a:pPr algn="l"/>
            <a:r>
              <a:rPr sz="1200" b="0">
                <a:solidFill>
                  <a:srgbClr val="E9ECF2"/>
                </a:solidFill>
                <a:latin typeface="Calibri"/>
              </a:rPr>
              <a:t>Pick an investigation, toggle agent groups, hit Run. The platform drives the AI adapter end-to-end and shows stage progress. When the run completes, the 'Open forensic case' button bridges the findings into a case with hash + commit.</a:t>
            </a:r>
          </a:p>
        </p:txBody>
      </p:sp>
      <p:sp>
        <p:nvSpPr>
          <p:cNvPr id="11" name="TextBox 10"/>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PRODUCT · VIEW 3</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Git-style evidence chain.</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6/17</a:t>
            </a:r>
          </a:p>
        </p:txBody>
      </p:sp>
      <p:pic>
        <p:nvPicPr>
          <p:cNvPr id="7" name="Picture 6" descr="06-branch-graph.png"/>
          <p:cNvPicPr>
            <a:picLocks noChangeAspect="1"/>
          </p:cNvPicPr>
          <p:nvPr/>
        </p:nvPicPr>
        <p:blipFill>
          <a:blip r:embed="rId2"/>
          <a:stretch>
            <a:fillRect/>
          </a:stretch>
        </p:blipFill>
        <p:spPr>
          <a:xfrm>
            <a:off x="548640" y="1828800"/>
            <a:ext cx="6949440" cy="4343400"/>
          </a:xfrm>
          <a:prstGeom prst="rect">
            <a:avLst/>
          </a:prstGeom>
        </p:spPr>
      </p:pic>
      <p:sp>
        <p:nvSpPr>
          <p:cNvPr id="8" name="TextBox 7"/>
          <p:cNvSpPr txBox="1"/>
          <p:nvPr/>
        </p:nvSpPr>
        <p:spPr>
          <a:xfrm>
            <a:off x="7863840" y="1828800"/>
            <a:ext cx="3749039" cy="365760"/>
          </a:xfrm>
          <a:prstGeom prst="rect">
            <a:avLst/>
          </a:prstGeom>
          <a:noFill/>
        </p:spPr>
        <p:txBody>
          <a:bodyPr wrap="square" lIns="0" rIns="0" tIns="0" bIns="0" anchor="t">
            <a:spAutoFit/>
          </a:bodyPr>
          <a:lstStyle/>
          <a:p>
            <a:pPr algn="l"/>
            <a:r>
              <a:rPr sz="1000" b="1">
                <a:solidFill>
                  <a:srgbClr val="14B8A6"/>
                </a:solidFill>
                <a:latin typeface="Calibri"/>
              </a:rPr>
              <a:t>VERIFIABLE FORENSICS</a:t>
            </a:r>
          </a:p>
        </p:txBody>
      </p:sp>
      <p:sp>
        <p:nvSpPr>
          <p:cNvPr id="9" name="TextBox 8"/>
          <p:cNvSpPr txBox="1"/>
          <p:nvPr/>
        </p:nvSpPr>
        <p:spPr>
          <a:xfrm>
            <a:off x="7863840" y="2194560"/>
            <a:ext cx="3749039" cy="548640"/>
          </a:xfrm>
          <a:prstGeom prst="rect">
            <a:avLst/>
          </a:prstGeom>
          <a:noFill/>
        </p:spPr>
        <p:txBody>
          <a:bodyPr wrap="square" lIns="0" rIns="0" tIns="0" bIns="0" anchor="t">
            <a:spAutoFit/>
          </a:bodyPr>
          <a:lstStyle/>
          <a:p>
            <a:pPr algn="l"/>
            <a:r>
              <a:rPr sz="1600" b="1">
                <a:solidFill>
                  <a:srgbClr val="E9ECF2"/>
                </a:solidFill>
                <a:latin typeface="Calibri"/>
              </a:rPr>
              <a:t>Every evidence change carries a hash + a commit.</a:t>
            </a:r>
          </a:p>
        </p:txBody>
      </p:sp>
      <p:sp>
        <p:nvSpPr>
          <p:cNvPr id="10" name="TextBox 9"/>
          <p:cNvSpPr txBox="1"/>
          <p:nvPr/>
        </p:nvSpPr>
        <p:spPr>
          <a:xfrm>
            <a:off x="7863840" y="2834640"/>
            <a:ext cx="3749039" cy="3200400"/>
          </a:xfrm>
          <a:prstGeom prst="rect">
            <a:avLst/>
          </a:prstGeom>
          <a:noFill/>
        </p:spPr>
        <p:txBody>
          <a:bodyPr wrap="square" lIns="0" rIns="0" tIns="0" bIns="0" anchor="t">
            <a:spAutoFit/>
          </a:bodyPr>
          <a:lstStyle/>
          <a:p>
            <a:pPr algn="l"/>
            <a:r>
              <a:rPr sz="1200" b="0">
                <a:solidFill>
                  <a:srgbClr val="E9ECF2"/>
                </a:solidFill>
                <a:latin typeface="Calibri"/>
              </a:rPr>
              <a:t>Lane-per-branch, branch-coloured dots per commit, verified ring around verified commits. Sealed evidence is immutable. This is the structure that survives a court challenge.</a:t>
            </a:r>
          </a:p>
        </p:txBody>
      </p:sp>
      <p:sp>
        <p:nvSpPr>
          <p:cNvPr id="11" name="TextBox 10"/>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PRODUCT · VIEW 4</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Cryptographic integrity.</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7/17</a:t>
            </a:r>
          </a:p>
        </p:txBody>
      </p:sp>
      <p:pic>
        <p:nvPicPr>
          <p:cNvPr id="7" name="Picture 6" descr="14-integrity.png"/>
          <p:cNvPicPr>
            <a:picLocks noChangeAspect="1"/>
          </p:cNvPicPr>
          <p:nvPr/>
        </p:nvPicPr>
        <p:blipFill>
          <a:blip r:embed="rId2"/>
          <a:stretch>
            <a:fillRect/>
          </a:stretch>
        </p:blipFill>
        <p:spPr>
          <a:xfrm>
            <a:off x="548640" y="1828800"/>
            <a:ext cx="6949440" cy="4343400"/>
          </a:xfrm>
          <a:prstGeom prst="rect">
            <a:avLst/>
          </a:prstGeom>
        </p:spPr>
      </p:pic>
      <p:sp>
        <p:nvSpPr>
          <p:cNvPr id="8" name="TextBox 7"/>
          <p:cNvSpPr txBox="1"/>
          <p:nvPr/>
        </p:nvSpPr>
        <p:spPr>
          <a:xfrm>
            <a:off x="7863840" y="1828800"/>
            <a:ext cx="3749039" cy="365760"/>
          </a:xfrm>
          <a:prstGeom prst="rect">
            <a:avLst/>
          </a:prstGeom>
          <a:noFill/>
        </p:spPr>
        <p:txBody>
          <a:bodyPr wrap="square" lIns="0" rIns="0" tIns="0" bIns="0" anchor="t">
            <a:spAutoFit/>
          </a:bodyPr>
          <a:lstStyle/>
          <a:p>
            <a:pPr algn="l"/>
            <a:r>
              <a:rPr sz="1000" b="1">
                <a:solidFill>
                  <a:srgbClr val="14B8A6"/>
                </a:solidFill>
                <a:latin typeface="Calibri"/>
              </a:rPr>
              <a:t>TAMPER-EVIDENT</a:t>
            </a:r>
          </a:p>
        </p:txBody>
      </p:sp>
      <p:sp>
        <p:nvSpPr>
          <p:cNvPr id="9" name="TextBox 8"/>
          <p:cNvSpPr txBox="1"/>
          <p:nvPr/>
        </p:nvSpPr>
        <p:spPr>
          <a:xfrm>
            <a:off x="7863840" y="2194560"/>
            <a:ext cx="3749039" cy="548640"/>
          </a:xfrm>
          <a:prstGeom prst="rect">
            <a:avLst/>
          </a:prstGeom>
          <a:noFill/>
        </p:spPr>
        <p:txBody>
          <a:bodyPr wrap="square" lIns="0" rIns="0" tIns="0" bIns="0" anchor="t">
            <a:spAutoFit/>
          </a:bodyPr>
          <a:lstStyle/>
          <a:p>
            <a:pPr algn="l"/>
            <a:r>
              <a:rPr sz="1600" b="1">
                <a:solidFill>
                  <a:srgbClr val="E9ECF2"/>
                </a:solidFill>
                <a:latin typeface="Calibri"/>
              </a:rPr>
              <a:t>One button replays the chain.</a:t>
            </a:r>
          </a:p>
        </p:txBody>
      </p:sp>
      <p:sp>
        <p:nvSpPr>
          <p:cNvPr id="10" name="TextBox 9"/>
          <p:cNvSpPr txBox="1"/>
          <p:nvPr/>
        </p:nvSpPr>
        <p:spPr>
          <a:xfrm>
            <a:off x="7863840" y="2834640"/>
            <a:ext cx="3749039" cy="3200400"/>
          </a:xfrm>
          <a:prstGeom prst="rect">
            <a:avLst/>
          </a:prstGeom>
          <a:noFill/>
        </p:spPr>
        <p:txBody>
          <a:bodyPr wrap="square" lIns="0" rIns="0" tIns="0" bIns="0" anchor="t">
            <a:spAutoFit/>
          </a:bodyPr>
          <a:lstStyle/>
          <a:p>
            <a:pPr algn="l"/>
            <a:r>
              <a:rPr sz="1200" b="0">
                <a:solidFill>
                  <a:srgbClr val="E9ECF2"/>
                </a:solidFill>
                <a:latin typeface="Calibri"/>
              </a:rPr>
              <a:t>SHA-256 forward chain: hash = sha256(prev | action | entity | id | iso(t)). Click 'Verify chain' and the platform replays every audit row, breaks loudly on tampering, and shows the expected vs stored hash for forensic inspection.</a:t>
            </a:r>
          </a:p>
        </p:txBody>
      </p:sp>
      <p:sp>
        <p:nvSpPr>
          <p:cNvPr id="11" name="TextBox 10"/>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TIMING</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Why now.</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8/17</a:t>
            </a:r>
          </a:p>
        </p:txBody>
      </p:sp>
      <p:sp>
        <p:nvSpPr>
          <p:cNvPr id="7" name="TextBox 6"/>
          <p:cNvSpPr txBox="1"/>
          <p:nvPr/>
        </p:nvSpPr>
        <p:spPr>
          <a:xfrm>
            <a:off x="640080" y="1828800"/>
            <a:ext cx="10607040" cy="457200"/>
          </a:xfrm>
          <a:prstGeom prst="rect">
            <a:avLst/>
          </a:prstGeom>
          <a:noFill/>
        </p:spPr>
        <p:txBody>
          <a:bodyPr wrap="square" lIns="0" rIns="0" tIns="0" bIns="0" anchor="t">
            <a:spAutoFit/>
          </a:bodyPr>
          <a:lstStyle/>
          <a:p>
            <a:pPr algn="l"/>
            <a:r>
              <a:rPr sz="1700" b="1">
                <a:solidFill>
                  <a:srgbClr val="E9ECF2"/>
                </a:solidFill>
                <a:latin typeface="Calibri"/>
              </a:rPr>
              <a:t>LLMs make per-investigation OSINT cheap.</a:t>
            </a:r>
          </a:p>
        </p:txBody>
      </p:sp>
      <p:sp>
        <p:nvSpPr>
          <p:cNvPr id="8" name="TextBox 7"/>
          <p:cNvSpPr txBox="1"/>
          <p:nvPr/>
        </p:nvSpPr>
        <p:spPr>
          <a:xfrm>
            <a:off x="640080" y="2240280"/>
            <a:ext cx="10607040" cy="548640"/>
          </a:xfrm>
          <a:prstGeom prst="rect">
            <a:avLst/>
          </a:prstGeom>
          <a:noFill/>
        </p:spPr>
        <p:txBody>
          <a:bodyPr wrap="square" lIns="0" rIns="0" tIns="0" bIns="0" anchor="t">
            <a:spAutoFit/>
          </a:bodyPr>
          <a:lstStyle/>
          <a:p>
            <a:pPr algn="l"/>
            <a:r>
              <a:rPr sz="1300" b="0">
                <a:solidFill>
                  <a:srgbClr val="9AA3B2"/>
                </a:solidFill>
                <a:latin typeface="Calibri"/>
              </a:rPr>
              <a:t>Hosted models (NVIDIA NIM, OpenRouter, GLM) bring 70B-class quality to $5/mo budgets. The agent-group pipeline is finally viable for single-investigator shops.</a:t>
            </a:r>
          </a:p>
        </p:txBody>
      </p:sp>
      <p:sp>
        <p:nvSpPr>
          <p:cNvPr id="9" name="TextBox 8"/>
          <p:cNvSpPr txBox="1"/>
          <p:nvPr/>
        </p:nvSpPr>
        <p:spPr>
          <a:xfrm>
            <a:off x="640080" y="2880360"/>
            <a:ext cx="10607040" cy="457200"/>
          </a:xfrm>
          <a:prstGeom prst="rect">
            <a:avLst/>
          </a:prstGeom>
          <a:noFill/>
        </p:spPr>
        <p:txBody>
          <a:bodyPr wrap="square" lIns="0" rIns="0" tIns="0" bIns="0" anchor="t">
            <a:spAutoFit/>
          </a:bodyPr>
          <a:lstStyle/>
          <a:p>
            <a:pPr algn="l"/>
            <a:r>
              <a:rPr sz="1700" b="1">
                <a:solidFill>
                  <a:srgbClr val="E9ECF2"/>
                </a:solidFill>
                <a:latin typeface="Calibri"/>
              </a:rPr>
              <a:t>Disinformation + sanctions evasion at scale.</a:t>
            </a:r>
          </a:p>
        </p:txBody>
      </p:sp>
      <p:sp>
        <p:nvSpPr>
          <p:cNvPr id="10" name="TextBox 9"/>
          <p:cNvSpPr txBox="1"/>
          <p:nvPr/>
        </p:nvSpPr>
        <p:spPr>
          <a:xfrm>
            <a:off x="640080" y="3291840"/>
            <a:ext cx="10607040" cy="548640"/>
          </a:xfrm>
          <a:prstGeom prst="rect">
            <a:avLst/>
          </a:prstGeom>
          <a:noFill/>
        </p:spPr>
        <p:txBody>
          <a:bodyPr wrap="square" lIns="0" rIns="0" tIns="0" bIns="0" anchor="t">
            <a:spAutoFit/>
          </a:bodyPr>
          <a:lstStyle/>
          <a:p>
            <a:pPr algn="l"/>
            <a:r>
              <a:rPr sz="1300" b="0">
                <a:solidFill>
                  <a:srgbClr val="9AA3B2"/>
                </a:solidFill>
                <a:latin typeface="Calibri"/>
              </a:rPr>
              <a:t>Russia/UA, Gaza, crypto-sanctioned-entity tracking, election interference — every analyst's caseload is up 3–5× since 2022.</a:t>
            </a:r>
          </a:p>
        </p:txBody>
      </p:sp>
      <p:sp>
        <p:nvSpPr>
          <p:cNvPr id="11" name="TextBox 10"/>
          <p:cNvSpPr txBox="1"/>
          <p:nvPr/>
        </p:nvSpPr>
        <p:spPr>
          <a:xfrm>
            <a:off x="640080" y="3931920"/>
            <a:ext cx="10607040" cy="457200"/>
          </a:xfrm>
          <a:prstGeom prst="rect">
            <a:avLst/>
          </a:prstGeom>
          <a:noFill/>
        </p:spPr>
        <p:txBody>
          <a:bodyPr wrap="square" lIns="0" rIns="0" tIns="0" bIns="0" anchor="t">
            <a:spAutoFit/>
          </a:bodyPr>
          <a:lstStyle/>
          <a:p>
            <a:pPr algn="l"/>
            <a:r>
              <a:rPr sz="1700" b="1">
                <a:solidFill>
                  <a:srgbClr val="E9ECF2"/>
                </a:solidFill>
                <a:latin typeface="Calibri"/>
              </a:rPr>
              <a:t>Courts are starting to accept open-source evidence.</a:t>
            </a:r>
          </a:p>
        </p:txBody>
      </p:sp>
      <p:sp>
        <p:nvSpPr>
          <p:cNvPr id="12" name="TextBox 11"/>
          <p:cNvSpPr txBox="1"/>
          <p:nvPr/>
        </p:nvSpPr>
        <p:spPr>
          <a:xfrm>
            <a:off x="640080" y="4343400"/>
            <a:ext cx="10607040" cy="548640"/>
          </a:xfrm>
          <a:prstGeom prst="rect">
            <a:avLst/>
          </a:prstGeom>
          <a:noFill/>
        </p:spPr>
        <p:txBody>
          <a:bodyPr wrap="square" lIns="0" rIns="0" tIns="0" bIns="0" anchor="t">
            <a:spAutoFit/>
          </a:bodyPr>
          <a:lstStyle/>
          <a:p>
            <a:pPr algn="l"/>
            <a:r>
              <a:rPr sz="1300" b="0">
                <a:solidFill>
                  <a:srgbClr val="9AA3B2"/>
                </a:solidFill>
                <a:latin typeface="Calibri"/>
              </a:rPr>
              <a:t>Bellingcat-style findings now appear in ICC + national-court filings. What's missing isn't the data — it's a defensible chain.</a:t>
            </a:r>
          </a:p>
        </p:txBody>
      </p:sp>
      <p:sp>
        <p:nvSpPr>
          <p:cNvPr id="13" name="TextBox 12"/>
          <p:cNvSpPr txBox="1"/>
          <p:nvPr/>
        </p:nvSpPr>
        <p:spPr>
          <a:xfrm>
            <a:off x="640080" y="4983479"/>
            <a:ext cx="10607040" cy="457200"/>
          </a:xfrm>
          <a:prstGeom prst="rect">
            <a:avLst/>
          </a:prstGeom>
          <a:noFill/>
        </p:spPr>
        <p:txBody>
          <a:bodyPr wrap="square" lIns="0" rIns="0" tIns="0" bIns="0" anchor="t">
            <a:spAutoFit/>
          </a:bodyPr>
          <a:lstStyle/>
          <a:p>
            <a:pPr algn="l"/>
            <a:r>
              <a:rPr sz="1700" b="1">
                <a:solidFill>
                  <a:srgbClr val="E9ECF2"/>
                </a:solidFill>
                <a:latin typeface="Calibri"/>
              </a:rPr>
              <a:t>Open-source forensics is having a moment.</a:t>
            </a:r>
          </a:p>
        </p:txBody>
      </p:sp>
      <p:sp>
        <p:nvSpPr>
          <p:cNvPr id="14" name="TextBox 13"/>
          <p:cNvSpPr txBox="1"/>
          <p:nvPr/>
        </p:nvSpPr>
        <p:spPr>
          <a:xfrm>
            <a:off x="640080" y="5394959"/>
            <a:ext cx="10607040" cy="548640"/>
          </a:xfrm>
          <a:prstGeom prst="rect">
            <a:avLst/>
          </a:prstGeom>
          <a:noFill/>
        </p:spPr>
        <p:txBody>
          <a:bodyPr wrap="square" lIns="0" rIns="0" tIns="0" bIns="0" anchor="t">
            <a:spAutoFit/>
          </a:bodyPr>
          <a:lstStyle/>
          <a:p>
            <a:pPr algn="l"/>
            <a:r>
              <a:rPr sz="1300" b="0">
                <a:solidFill>
                  <a:srgbClr val="9AA3B2"/>
                </a:solidFill>
                <a:latin typeface="Calibri"/>
              </a:rPr>
              <a:t>Velociraptor, Hayabusa, MISP, OpenCTI: the community has moved past 'cloud-only'. We're the OSINT+forensics piece that's still missing.</a:t>
            </a:r>
          </a:p>
        </p:txBody>
      </p:sp>
      <p:sp>
        <p:nvSpPr>
          <p:cNvPr id="15" name="TextBox 14"/>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TAM / SAM / SOM</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Market.</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9/17</a:t>
            </a:r>
          </a:p>
        </p:txBody>
      </p:sp>
      <p:sp>
        <p:nvSpPr>
          <p:cNvPr id="7" name="Rounded Rectangle 6"/>
          <p:cNvSpPr/>
          <p:nvPr/>
        </p:nvSpPr>
        <p:spPr>
          <a:xfrm>
            <a:off x="548640" y="1828800"/>
            <a:ext cx="11064240" cy="123444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011680"/>
            <a:ext cx="914400" cy="365760"/>
          </a:xfrm>
          <a:prstGeom prst="rect">
            <a:avLst/>
          </a:prstGeom>
          <a:noFill/>
        </p:spPr>
        <p:txBody>
          <a:bodyPr wrap="square" lIns="0" rIns="0" tIns="0" bIns="0" anchor="t">
            <a:spAutoFit/>
          </a:bodyPr>
          <a:lstStyle/>
          <a:p>
            <a:pPr algn="l"/>
            <a:r>
              <a:rPr sz="1200" b="1">
                <a:solidFill>
                  <a:srgbClr val="14B8A6"/>
                </a:solidFill>
                <a:latin typeface="Calibri"/>
              </a:rPr>
              <a:t>TAM</a:t>
            </a:r>
          </a:p>
        </p:txBody>
      </p:sp>
      <p:sp>
        <p:nvSpPr>
          <p:cNvPr id="9" name="TextBox 8"/>
          <p:cNvSpPr txBox="1"/>
          <p:nvPr/>
        </p:nvSpPr>
        <p:spPr>
          <a:xfrm>
            <a:off x="1828800" y="2011680"/>
            <a:ext cx="9144000" cy="365760"/>
          </a:xfrm>
          <a:prstGeom prst="rect">
            <a:avLst/>
          </a:prstGeom>
          <a:noFill/>
        </p:spPr>
        <p:txBody>
          <a:bodyPr wrap="square" lIns="0" rIns="0" tIns="0" bIns="0" anchor="t">
            <a:spAutoFit/>
          </a:bodyPr>
          <a:lstStyle/>
          <a:p>
            <a:pPr algn="l"/>
            <a:r>
              <a:rPr sz="1400" b="1">
                <a:solidFill>
                  <a:srgbClr val="E9ECF2"/>
                </a:solidFill>
                <a:latin typeface="Calibri"/>
              </a:rPr>
              <a:t>Global cybercrime investigations + e-discovery + threat-intel.</a:t>
            </a:r>
          </a:p>
        </p:txBody>
      </p:sp>
      <p:sp>
        <p:nvSpPr>
          <p:cNvPr id="10" name="TextBox 9"/>
          <p:cNvSpPr txBox="1"/>
          <p:nvPr/>
        </p:nvSpPr>
        <p:spPr>
          <a:xfrm>
            <a:off x="1828800" y="2468880"/>
            <a:ext cx="9144000" cy="457200"/>
          </a:xfrm>
          <a:prstGeom prst="rect">
            <a:avLst/>
          </a:prstGeom>
          <a:noFill/>
        </p:spPr>
        <p:txBody>
          <a:bodyPr wrap="square" lIns="0" rIns="0" tIns="0" bIns="0" anchor="t">
            <a:spAutoFit/>
          </a:bodyPr>
          <a:lstStyle/>
          <a:p>
            <a:pPr algn="l"/>
            <a:r>
              <a:rPr sz="1200" b="0">
                <a:solidFill>
                  <a:srgbClr val="9AA3B2"/>
                </a:solidFill>
                <a:latin typeface="Calibri"/>
              </a:rPr>
              <a:t>$110B by 2027 (combined Gartner + IDC).</a:t>
            </a:r>
          </a:p>
        </p:txBody>
      </p:sp>
      <p:sp>
        <p:nvSpPr>
          <p:cNvPr id="11" name="Rounded Rectangle 10"/>
          <p:cNvSpPr/>
          <p:nvPr/>
        </p:nvSpPr>
        <p:spPr>
          <a:xfrm>
            <a:off x="548640" y="3246120"/>
            <a:ext cx="11064240" cy="123444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429000"/>
            <a:ext cx="914400" cy="365760"/>
          </a:xfrm>
          <a:prstGeom prst="rect">
            <a:avLst/>
          </a:prstGeom>
          <a:noFill/>
        </p:spPr>
        <p:txBody>
          <a:bodyPr wrap="square" lIns="0" rIns="0" tIns="0" bIns="0" anchor="t">
            <a:spAutoFit/>
          </a:bodyPr>
          <a:lstStyle/>
          <a:p>
            <a:pPr algn="l"/>
            <a:r>
              <a:rPr sz="1200" b="1">
                <a:solidFill>
                  <a:srgbClr val="34D399"/>
                </a:solidFill>
                <a:latin typeface="Calibri"/>
              </a:rPr>
              <a:t>SAM</a:t>
            </a:r>
          </a:p>
        </p:txBody>
      </p:sp>
      <p:sp>
        <p:nvSpPr>
          <p:cNvPr id="13" name="TextBox 12"/>
          <p:cNvSpPr txBox="1"/>
          <p:nvPr/>
        </p:nvSpPr>
        <p:spPr>
          <a:xfrm>
            <a:off x="1828800" y="3429000"/>
            <a:ext cx="9144000" cy="365760"/>
          </a:xfrm>
          <a:prstGeom prst="rect">
            <a:avLst/>
          </a:prstGeom>
          <a:noFill/>
        </p:spPr>
        <p:txBody>
          <a:bodyPr wrap="square" lIns="0" rIns="0" tIns="0" bIns="0" anchor="t">
            <a:spAutoFit/>
          </a:bodyPr>
          <a:lstStyle/>
          <a:p>
            <a:pPr algn="l"/>
            <a:r>
              <a:rPr sz="1400" b="1">
                <a:solidFill>
                  <a:srgbClr val="E9ECF2"/>
                </a:solidFill>
                <a:latin typeface="Calibri"/>
              </a:rPr>
              <a:t>Mid-market + boutique investigative shops + government contractors.</a:t>
            </a:r>
          </a:p>
        </p:txBody>
      </p:sp>
      <p:sp>
        <p:nvSpPr>
          <p:cNvPr id="14" name="TextBox 13"/>
          <p:cNvSpPr txBox="1"/>
          <p:nvPr/>
        </p:nvSpPr>
        <p:spPr>
          <a:xfrm>
            <a:off x="1828800" y="3886200"/>
            <a:ext cx="9144000" cy="457200"/>
          </a:xfrm>
          <a:prstGeom prst="rect">
            <a:avLst/>
          </a:prstGeom>
          <a:noFill/>
        </p:spPr>
        <p:txBody>
          <a:bodyPr wrap="square" lIns="0" rIns="0" tIns="0" bIns="0" anchor="t">
            <a:spAutoFit/>
          </a:bodyPr>
          <a:lstStyle/>
          <a:p>
            <a:pPr algn="l"/>
            <a:r>
              <a:rPr sz="1200" b="0">
                <a:solidFill>
                  <a:srgbClr val="9AA3B2"/>
                </a:solidFill>
                <a:latin typeface="Calibri"/>
              </a:rPr>
              <a:t>$9B annual seat licenses (Maltego, EnCase, AXIOM, Cellebrite, Relativity).</a:t>
            </a:r>
          </a:p>
        </p:txBody>
      </p:sp>
      <p:sp>
        <p:nvSpPr>
          <p:cNvPr id="15" name="Rounded Rectangle 14"/>
          <p:cNvSpPr/>
          <p:nvPr/>
        </p:nvSpPr>
        <p:spPr>
          <a:xfrm>
            <a:off x="548640" y="4663440"/>
            <a:ext cx="11064240" cy="123444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846320"/>
            <a:ext cx="914400" cy="365760"/>
          </a:xfrm>
          <a:prstGeom prst="rect">
            <a:avLst/>
          </a:prstGeom>
          <a:noFill/>
        </p:spPr>
        <p:txBody>
          <a:bodyPr wrap="square" lIns="0" rIns="0" tIns="0" bIns="0" anchor="t">
            <a:spAutoFit/>
          </a:bodyPr>
          <a:lstStyle/>
          <a:p>
            <a:pPr algn="l"/>
            <a:r>
              <a:rPr sz="1200" b="1">
                <a:solidFill>
                  <a:srgbClr val="F59E0B"/>
                </a:solidFill>
                <a:latin typeface="Calibri"/>
              </a:rPr>
              <a:t>SOM</a:t>
            </a:r>
          </a:p>
        </p:txBody>
      </p:sp>
      <p:sp>
        <p:nvSpPr>
          <p:cNvPr id="17" name="TextBox 16"/>
          <p:cNvSpPr txBox="1"/>
          <p:nvPr/>
        </p:nvSpPr>
        <p:spPr>
          <a:xfrm>
            <a:off x="1828800" y="4846320"/>
            <a:ext cx="9144000" cy="365760"/>
          </a:xfrm>
          <a:prstGeom prst="rect">
            <a:avLst/>
          </a:prstGeom>
          <a:noFill/>
        </p:spPr>
        <p:txBody>
          <a:bodyPr wrap="square" lIns="0" rIns="0" tIns="0" bIns="0" anchor="t">
            <a:spAutoFit/>
          </a:bodyPr>
          <a:lstStyle/>
          <a:p>
            <a:pPr algn="l"/>
            <a:r>
              <a:rPr sz="1400" b="1">
                <a:solidFill>
                  <a:srgbClr val="E9ECF2"/>
                </a:solidFill>
                <a:latin typeface="Calibri"/>
              </a:rPr>
              <a:t>Self-hosted + free OSS users converting at 4% to a $99–$499/mo SaaS tier.</a:t>
            </a:r>
          </a:p>
        </p:txBody>
      </p:sp>
      <p:sp>
        <p:nvSpPr>
          <p:cNvPr id="18" name="TextBox 17"/>
          <p:cNvSpPr txBox="1"/>
          <p:nvPr/>
        </p:nvSpPr>
        <p:spPr>
          <a:xfrm>
            <a:off x="1828800" y="5303520"/>
            <a:ext cx="9144000" cy="457200"/>
          </a:xfrm>
          <a:prstGeom prst="rect">
            <a:avLst/>
          </a:prstGeom>
          <a:noFill/>
        </p:spPr>
        <p:txBody>
          <a:bodyPr wrap="square" lIns="0" rIns="0" tIns="0" bIns="0" anchor="t">
            <a:spAutoFit/>
          </a:bodyPr>
          <a:lstStyle/>
          <a:p>
            <a:pPr algn="l"/>
            <a:r>
              <a:rPr sz="1200" b="0">
                <a:solidFill>
                  <a:srgbClr val="9AA3B2"/>
                </a:solidFill>
                <a:latin typeface="Calibri"/>
              </a:rPr>
              <a:t>$30M ARR within 3 years on a 100K-user OSS funnel.</a:t>
            </a:r>
          </a:p>
        </p:txBody>
      </p:sp>
      <p:sp>
        <p:nvSpPr>
          <p:cNvPr id="19" name="TextBox 18"/>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COMPETITIVE LANDSCAPE</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Where we sit.</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10/17</a:t>
            </a:r>
          </a:p>
        </p:txBody>
      </p:sp>
      <p:sp>
        <p:nvSpPr>
          <p:cNvPr id="7" name="Rectangle 6"/>
          <p:cNvSpPr/>
          <p:nvPr/>
        </p:nvSpPr>
        <p:spPr>
          <a:xfrm>
            <a:off x="2194560" y="1828800"/>
            <a:ext cx="7772400" cy="4206240"/>
          </a:xfrm>
          <a:prstGeom prst="rect">
            <a:avLst/>
          </a:prstGeom>
          <a:solidFill>
            <a:srgbClr val="0B0E13"/>
          </a:solidFill>
          <a:ln w="6350">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94560" y="1463040"/>
            <a:ext cx="7772400" cy="274320"/>
          </a:xfrm>
          <a:prstGeom prst="rect">
            <a:avLst/>
          </a:prstGeom>
          <a:noFill/>
        </p:spPr>
        <p:txBody>
          <a:bodyPr wrap="square" lIns="0" rIns="0" tIns="0" bIns="0" anchor="t">
            <a:spAutoFit/>
          </a:bodyPr>
          <a:lstStyle/>
          <a:p>
            <a:pPr algn="ctr"/>
            <a:r>
              <a:rPr sz="1000" b="1">
                <a:solidFill>
                  <a:srgbClr val="9AA3B2"/>
                </a:solidFill>
                <a:latin typeface="Calibri"/>
              </a:rPr>
              <a:t>OPEN SOURCE  →  CLOSED SOURCE</a:t>
            </a:r>
          </a:p>
        </p:txBody>
      </p:sp>
      <p:sp>
        <p:nvSpPr>
          <p:cNvPr id="9" name="TextBox 8"/>
          <p:cNvSpPr txBox="1"/>
          <p:nvPr/>
        </p:nvSpPr>
        <p:spPr>
          <a:xfrm>
            <a:off x="182880" y="1828800"/>
            <a:ext cx="1828800" cy="4206240"/>
          </a:xfrm>
          <a:prstGeom prst="rect">
            <a:avLst/>
          </a:prstGeom>
          <a:noFill/>
        </p:spPr>
        <p:txBody>
          <a:bodyPr wrap="square" lIns="0" rIns="0" tIns="0" bIns="0" anchor="ctr">
            <a:spAutoFit/>
          </a:bodyPr>
          <a:lstStyle/>
          <a:p>
            <a:pPr algn="ctr"/>
            <a:r>
              <a:rPr sz="1000" b="1">
                <a:solidFill>
                  <a:srgbClr val="9AA3B2"/>
                </a:solidFill>
                <a:latin typeface="Calibri"/>
              </a:rPr>
              <a:t>UNIFIED OSINT + FORENSICS  →  SINGLE WORKFLOW</a:t>
            </a:r>
          </a:p>
        </p:txBody>
      </p:sp>
      <p:sp>
        <p:nvSpPr>
          <p:cNvPr id="10" name="Rectangle 9"/>
          <p:cNvSpPr/>
          <p:nvPr/>
        </p:nvSpPr>
        <p:spPr>
          <a:xfrm>
            <a:off x="2194560" y="3931920"/>
            <a:ext cx="777240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80760" y="1828800"/>
            <a:ext cx="12700" cy="420624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77440" y="2011680"/>
            <a:ext cx="3474720" cy="274320"/>
          </a:xfrm>
          <a:prstGeom prst="rect">
            <a:avLst/>
          </a:prstGeom>
          <a:noFill/>
        </p:spPr>
        <p:txBody>
          <a:bodyPr wrap="square" lIns="0" rIns="0" tIns="0" bIns="0" anchor="t">
            <a:spAutoFit/>
          </a:bodyPr>
          <a:lstStyle/>
          <a:p>
            <a:pPr algn="l"/>
            <a:r>
              <a:rPr sz="1000" b="1">
                <a:solidFill>
                  <a:srgbClr val="34D399"/>
                </a:solidFill>
                <a:latin typeface="Calibri"/>
              </a:rPr>
              <a:t>OPEN + UNIFIED</a:t>
            </a:r>
          </a:p>
        </p:txBody>
      </p:sp>
      <p:sp>
        <p:nvSpPr>
          <p:cNvPr id="13" name="TextBox 12"/>
          <p:cNvSpPr txBox="1"/>
          <p:nvPr/>
        </p:nvSpPr>
        <p:spPr>
          <a:xfrm>
            <a:off x="2377440" y="2377440"/>
            <a:ext cx="3474720" cy="1645920"/>
          </a:xfrm>
          <a:prstGeom prst="rect">
            <a:avLst/>
          </a:prstGeom>
          <a:noFill/>
        </p:spPr>
        <p:txBody>
          <a:bodyPr wrap="square" lIns="0" rIns="0" tIns="0" bIns="0" anchor="t">
            <a:spAutoFit/>
          </a:bodyPr>
          <a:lstStyle/>
          <a:p>
            <a:pPr algn="l"/>
            <a:r>
              <a:rPr sz="1200" b="0">
                <a:solidFill>
                  <a:srgbClr val="E9ECF2"/>
                </a:solidFill>
                <a:latin typeface="Calibri"/>
              </a:rPr>
              <a:t>· forenix-oss (us)</a:t>
            </a:r>
          </a:p>
        </p:txBody>
      </p:sp>
      <p:sp>
        <p:nvSpPr>
          <p:cNvPr id="14" name="TextBox 13"/>
          <p:cNvSpPr txBox="1"/>
          <p:nvPr/>
        </p:nvSpPr>
        <p:spPr>
          <a:xfrm>
            <a:off x="6263640" y="2011680"/>
            <a:ext cx="3474720" cy="274320"/>
          </a:xfrm>
          <a:prstGeom prst="rect">
            <a:avLst/>
          </a:prstGeom>
          <a:noFill/>
        </p:spPr>
        <p:txBody>
          <a:bodyPr wrap="square" lIns="0" rIns="0" tIns="0" bIns="0" anchor="t">
            <a:spAutoFit/>
          </a:bodyPr>
          <a:lstStyle/>
          <a:p>
            <a:pPr algn="l"/>
            <a:r>
              <a:rPr sz="1000" b="1">
                <a:solidFill>
                  <a:srgbClr val="9AA3B2"/>
                </a:solidFill>
                <a:latin typeface="Calibri"/>
              </a:rPr>
              <a:t>CLOSED + UNIFIED</a:t>
            </a:r>
          </a:p>
        </p:txBody>
      </p:sp>
      <p:sp>
        <p:nvSpPr>
          <p:cNvPr id="15" name="TextBox 14"/>
          <p:cNvSpPr txBox="1"/>
          <p:nvPr/>
        </p:nvSpPr>
        <p:spPr>
          <a:xfrm>
            <a:off x="6263640" y="2377440"/>
            <a:ext cx="3474720" cy="1645920"/>
          </a:xfrm>
          <a:prstGeom prst="rect">
            <a:avLst/>
          </a:prstGeom>
          <a:noFill/>
        </p:spPr>
        <p:txBody>
          <a:bodyPr wrap="square" lIns="0" rIns="0" tIns="0" bIns="0" anchor="t">
            <a:spAutoFit/>
          </a:bodyPr>
          <a:lstStyle/>
          <a:p>
            <a:pPr algn="l"/>
            <a:r>
              <a:rPr sz="1200" b="0">
                <a:solidFill>
                  <a:srgbClr val="E9ECF2"/>
                </a:solidFill>
                <a:latin typeface="Calibri"/>
              </a:rPr>
              <a:t>· Palantir Gotham (heavy)</a:t>
            </a:r>
          </a:p>
          <a:p>
            <a:pPr algn="l"/>
            <a:r>
              <a:rPr sz="1200" b="0">
                <a:solidFill>
                  <a:srgbClr val="E9ECF2"/>
                </a:solidFill>
                <a:latin typeface="Calibri"/>
              </a:rPr>
              <a:t>· IBM i2 (legacy)</a:t>
            </a:r>
          </a:p>
        </p:txBody>
      </p:sp>
      <p:sp>
        <p:nvSpPr>
          <p:cNvPr id="16" name="TextBox 15"/>
          <p:cNvSpPr txBox="1"/>
          <p:nvPr/>
        </p:nvSpPr>
        <p:spPr>
          <a:xfrm>
            <a:off x="2377440" y="4114800"/>
            <a:ext cx="3474720" cy="274320"/>
          </a:xfrm>
          <a:prstGeom prst="rect">
            <a:avLst/>
          </a:prstGeom>
          <a:noFill/>
        </p:spPr>
        <p:txBody>
          <a:bodyPr wrap="square" lIns="0" rIns="0" tIns="0" bIns="0" anchor="t">
            <a:spAutoFit/>
          </a:bodyPr>
          <a:lstStyle/>
          <a:p>
            <a:pPr algn="l"/>
            <a:r>
              <a:rPr sz="1000" b="1">
                <a:solidFill>
                  <a:srgbClr val="9AA3B2"/>
                </a:solidFill>
                <a:latin typeface="Calibri"/>
              </a:rPr>
              <a:t>OPEN + SINGLE</a:t>
            </a:r>
          </a:p>
        </p:txBody>
      </p:sp>
      <p:sp>
        <p:nvSpPr>
          <p:cNvPr id="17" name="TextBox 16"/>
          <p:cNvSpPr txBox="1"/>
          <p:nvPr/>
        </p:nvSpPr>
        <p:spPr>
          <a:xfrm>
            <a:off x="2377440" y="4480560"/>
            <a:ext cx="3474720" cy="1645920"/>
          </a:xfrm>
          <a:prstGeom prst="rect">
            <a:avLst/>
          </a:prstGeom>
          <a:noFill/>
        </p:spPr>
        <p:txBody>
          <a:bodyPr wrap="square" lIns="0" rIns="0" tIns="0" bIns="0" anchor="t">
            <a:spAutoFit/>
          </a:bodyPr>
          <a:lstStyle/>
          <a:p>
            <a:pPr algn="l"/>
            <a:r>
              <a:rPr sz="1200" b="0">
                <a:solidFill>
                  <a:srgbClr val="E9ECF2"/>
                </a:solidFill>
                <a:latin typeface="Calibri"/>
              </a:rPr>
              <a:t>· SpiderFoot (OSINT only)</a:t>
            </a:r>
          </a:p>
          <a:p>
            <a:pPr algn="l"/>
            <a:r>
              <a:rPr sz="1200" b="0">
                <a:solidFill>
                  <a:srgbClr val="E9ECF2"/>
                </a:solidFill>
                <a:latin typeface="Calibri"/>
              </a:rPr>
              <a:t>· Velociraptor (forensics only)</a:t>
            </a:r>
          </a:p>
          <a:p>
            <a:pPr algn="l"/>
            <a:r>
              <a:rPr sz="1200" b="0">
                <a:solidFill>
                  <a:srgbClr val="E9ECF2"/>
                </a:solidFill>
                <a:latin typeface="Calibri"/>
              </a:rPr>
              <a:t>· MISP (intel only)</a:t>
            </a:r>
          </a:p>
        </p:txBody>
      </p:sp>
      <p:sp>
        <p:nvSpPr>
          <p:cNvPr id="18" name="TextBox 17"/>
          <p:cNvSpPr txBox="1"/>
          <p:nvPr/>
        </p:nvSpPr>
        <p:spPr>
          <a:xfrm>
            <a:off x="6263640" y="4114800"/>
            <a:ext cx="3474720" cy="274320"/>
          </a:xfrm>
          <a:prstGeom prst="rect">
            <a:avLst/>
          </a:prstGeom>
          <a:noFill/>
        </p:spPr>
        <p:txBody>
          <a:bodyPr wrap="square" lIns="0" rIns="0" tIns="0" bIns="0" anchor="t">
            <a:spAutoFit/>
          </a:bodyPr>
          <a:lstStyle/>
          <a:p>
            <a:pPr algn="l"/>
            <a:r>
              <a:rPr sz="1000" b="1">
                <a:solidFill>
                  <a:srgbClr val="9AA3B2"/>
                </a:solidFill>
                <a:latin typeface="Calibri"/>
              </a:rPr>
              <a:t>CLOSED + SINGLE</a:t>
            </a:r>
          </a:p>
        </p:txBody>
      </p:sp>
      <p:sp>
        <p:nvSpPr>
          <p:cNvPr id="19" name="TextBox 18"/>
          <p:cNvSpPr txBox="1"/>
          <p:nvPr/>
        </p:nvSpPr>
        <p:spPr>
          <a:xfrm>
            <a:off x="6263640" y="4480560"/>
            <a:ext cx="3474720" cy="1645920"/>
          </a:xfrm>
          <a:prstGeom prst="rect">
            <a:avLst/>
          </a:prstGeom>
          <a:noFill/>
        </p:spPr>
        <p:txBody>
          <a:bodyPr wrap="square" lIns="0" rIns="0" tIns="0" bIns="0" anchor="t">
            <a:spAutoFit/>
          </a:bodyPr>
          <a:lstStyle/>
          <a:p>
            <a:pPr algn="l"/>
            <a:r>
              <a:rPr sz="1200" b="0">
                <a:solidFill>
                  <a:srgbClr val="E9ECF2"/>
                </a:solidFill>
                <a:latin typeface="Calibri"/>
              </a:rPr>
              <a:t>· Maltego (OSINT)</a:t>
            </a:r>
          </a:p>
          <a:p>
            <a:pPr algn="l"/>
            <a:r>
              <a:rPr sz="1200" b="0">
                <a:solidFill>
                  <a:srgbClr val="E9ECF2"/>
                </a:solidFill>
                <a:latin typeface="Calibri"/>
              </a:rPr>
              <a:t>· EnCase / AXIOM / Cellebrite (forensics)</a:t>
            </a:r>
          </a:p>
          <a:p>
            <a:pPr algn="l"/>
            <a:r>
              <a:rPr sz="1200" b="0">
                <a:solidFill>
                  <a:srgbClr val="E9ECF2"/>
                </a:solidFill>
                <a:latin typeface="Calibri"/>
              </a:rPr>
              <a:t>· Relativity (eDiscovery)</a:t>
            </a:r>
          </a:p>
        </p:txBody>
      </p:sp>
      <p:sp>
        <p:nvSpPr>
          <p:cNvPr id="20" name="TextBox 19"/>
          <p:cNvSpPr txBox="1"/>
          <p:nvPr/>
        </p:nvSpPr>
        <p:spPr>
          <a:xfrm>
            <a:off x="548640" y="6126480"/>
            <a:ext cx="11064240" cy="365760"/>
          </a:xfrm>
          <a:prstGeom prst="rect">
            <a:avLst/>
          </a:prstGeom>
          <a:noFill/>
        </p:spPr>
        <p:txBody>
          <a:bodyPr wrap="square" lIns="0" rIns="0" tIns="0" bIns="0" anchor="t">
            <a:spAutoFit/>
          </a:bodyPr>
          <a:lstStyle/>
          <a:p>
            <a:pPr algn="l"/>
            <a:r>
              <a:rPr sz="1200" b="1">
                <a:solidFill>
                  <a:srgbClr val="14B8A6"/>
                </a:solidFill>
                <a:latin typeface="Calibri"/>
              </a:rPr>
              <a:t>We are the only product where the OSINT lead and the forensic chain live in one MIT-licensed schema.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BUSINESS MODEL</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How we make money.</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11/17</a:t>
            </a:r>
          </a:p>
        </p:txBody>
      </p:sp>
      <p:sp>
        <p:nvSpPr>
          <p:cNvPr id="7" name="Rounded Rectangle 6"/>
          <p:cNvSpPr/>
          <p:nvPr/>
        </p:nvSpPr>
        <p:spPr>
          <a:xfrm>
            <a:off x="548640" y="1828800"/>
            <a:ext cx="2743200" cy="429768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57400"/>
            <a:ext cx="2286000" cy="365760"/>
          </a:xfrm>
          <a:prstGeom prst="rect">
            <a:avLst/>
          </a:prstGeom>
          <a:noFill/>
        </p:spPr>
        <p:txBody>
          <a:bodyPr wrap="square" lIns="0" rIns="0" tIns="0" bIns="0" anchor="t">
            <a:spAutoFit/>
          </a:bodyPr>
          <a:lstStyle/>
          <a:p>
            <a:pPr algn="l"/>
            <a:r>
              <a:rPr sz="1100" b="1">
                <a:solidFill>
                  <a:srgbClr val="34D399"/>
                </a:solidFill>
                <a:latin typeface="Calibri"/>
              </a:rPr>
              <a:t>CORE</a:t>
            </a:r>
          </a:p>
        </p:txBody>
      </p:sp>
      <p:sp>
        <p:nvSpPr>
          <p:cNvPr id="9" name="TextBox 8"/>
          <p:cNvSpPr txBox="1"/>
          <p:nvPr/>
        </p:nvSpPr>
        <p:spPr>
          <a:xfrm>
            <a:off x="777240" y="2468880"/>
            <a:ext cx="2286000" cy="457200"/>
          </a:xfrm>
          <a:prstGeom prst="rect">
            <a:avLst/>
          </a:prstGeom>
          <a:noFill/>
        </p:spPr>
        <p:txBody>
          <a:bodyPr wrap="square" lIns="0" rIns="0" tIns="0" bIns="0" anchor="t">
            <a:spAutoFit/>
          </a:bodyPr>
          <a:lstStyle/>
          <a:p>
            <a:pPr algn="l"/>
            <a:r>
              <a:rPr sz="1500" b="1">
                <a:solidFill>
                  <a:srgbClr val="E9ECF2"/>
                </a:solidFill>
                <a:latin typeface="Calibri"/>
              </a:rPr>
              <a:t>MIT-licensed open source</a:t>
            </a:r>
          </a:p>
        </p:txBody>
      </p:sp>
      <p:sp>
        <p:nvSpPr>
          <p:cNvPr id="10" name="TextBox 9"/>
          <p:cNvSpPr txBox="1"/>
          <p:nvPr/>
        </p:nvSpPr>
        <p:spPr>
          <a:xfrm>
            <a:off x="777240" y="3108960"/>
            <a:ext cx="2286000" cy="2377440"/>
          </a:xfrm>
          <a:prstGeom prst="rect">
            <a:avLst/>
          </a:prstGeom>
          <a:noFill/>
        </p:spPr>
        <p:txBody>
          <a:bodyPr wrap="square" lIns="0" rIns="0" tIns="0" bIns="0" anchor="t">
            <a:spAutoFit/>
          </a:bodyPr>
          <a:lstStyle/>
          <a:p>
            <a:pPr algn="l"/>
            <a:r>
              <a:rPr sz="1200" b="0">
                <a:solidFill>
                  <a:srgbClr val="9AA3B2"/>
                </a:solidFill>
                <a:latin typeface="Calibri"/>
              </a:rPr>
              <a:t>Every analyst feature. 5 of 6 adapters (mock, Ollama, GLM, OpenRouter, NVIDIA). Self-host forever.</a:t>
            </a:r>
          </a:p>
        </p:txBody>
      </p:sp>
      <p:sp>
        <p:nvSpPr>
          <p:cNvPr id="11" name="Rectangle 10"/>
          <p:cNvSpPr/>
          <p:nvPr/>
        </p:nvSpPr>
        <p:spPr>
          <a:xfrm>
            <a:off x="777240" y="5532120"/>
            <a:ext cx="228600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623560"/>
            <a:ext cx="2286000" cy="365760"/>
          </a:xfrm>
          <a:prstGeom prst="rect">
            <a:avLst/>
          </a:prstGeom>
          <a:noFill/>
        </p:spPr>
        <p:txBody>
          <a:bodyPr wrap="square" lIns="0" rIns="0" tIns="0" bIns="0" anchor="t">
            <a:spAutoFit/>
          </a:bodyPr>
          <a:lstStyle/>
          <a:p>
            <a:pPr algn="l"/>
            <a:r>
              <a:rPr sz="1400" b="1">
                <a:solidFill>
                  <a:srgbClr val="34D399"/>
                </a:solidFill>
                <a:latin typeface="Calibri"/>
              </a:rPr>
              <a:t>$0</a:t>
            </a:r>
          </a:p>
        </p:txBody>
      </p:sp>
      <p:sp>
        <p:nvSpPr>
          <p:cNvPr id="13" name="Rounded Rectangle 12"/>
          <p:cNvSpPr/>
          <p:nvPr/>
        </p:nvSpPr>
        <p:spPr>
          <a:xfrm>
            <a:off x="3429000" y="1828800"/>
            <a:ext cx="2743200" cy="429768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0" y="2057400"/>
            <a:ext cx="2286000" cy="365760"/>
          </a:xfrm>
          <a:prstGeom prst="rect">
            <a:avLst/>
          </a:prstGeom>
          <a:noFill/>
        </p:spPr>
        <p:txBody>
          <a:bodyPr wrap="square" lIns="0" rIns="0" tIns="0" bIns="0" anchor="t">
            <a:spAutoFit/>
          </a:bodyPr>
          <a:lstStyle/>
          <a:p>
            <a:pPr algn="l"/>
            <a:r>
              <a:rPr sz="1100" b="1">
                <a:solidFill>
                  <a:srgbClr val="14B8A6"/>
                </a:solidFill>
                <a:latin typeface="Calibri"/>
              </a:rPr>
              <a:t>TEAM</a:t>
            </a:r>
          </a:p>
        </p:txBody>
      </p:sp>
      <p:sp>
        <p:nvSpPr>
          <p:cNvPr id="15" name="TextBox 14"/>
          <p:cNvSpPr txBox="1"/>
          <p:nvPr/>
        </p:nvSpPr>
        <p:spPr>
          <a:xfrm>
            <a:off x="3657600" y="2468880"/>
            <a:ext cx="2286000" cy="457200"/>
          </a:xfrm>
          <a:prstGeom prst="rect">
            <a:avLst/>
          </a:prstGeom>
          <a:noFill/>
        </p:spPr>
        <p:txBody>
          <a:bodyPr wrap="square" lIns="0" rIns="0" tIns="0" bIns="0" anchor="t">
            <a:spAutoFit/>
          </a:bodyPr>
          <a:lstStyle/>
          <a:p>
            <a:pPr algn="l"/>
            <a:r>
              <a:rPr sz="1500" b="1">
                <a:solidFill>
                  <a:srgbClr val="E9ECF2"/>
                </a:solidFill>
                <a:latin typeface="Calibri"/>
              </a:rPr>
              <a:t>Hosted single-tenant</a:t>
            </a:r>
          </a:p>
        </p:txBody>
      </p:sp>
      <p:sp>
        <p:nvSpPr>
          <p:cNvPr id="16" name="TextBox 15"/>
          <p:cNvSpPr txBox="1"/>
          <p:nvPr/>
        </p:nvSpPr>
        <p:spPr>
          <a:xfrm>
            <a:off x="3657600" y="3108960"/>
            <a:ext cx="2286000" cy="2377440"/>
          </a:xfrm>
          <a:prstGeom prst="rect">
            <a:avLst/>
          </a:prstGeom>
          <a:noFill/>
        </p:spPr>
        <p:txBody>
          <a:bodyPr wrap="square" lIns="0" rIns="0" tIns="0" bIns="0" anchor="t">
            <a:spAutoFit/>
          </a:bodyPr>
          <a:lstStyle/>
          <a:p>
            <a:pPr algn="l"/>
            <a:r>
              <a:rPr sz="1200" b="0">
                <a:solidFill>
                  <a:srgbClr val="9AA3B2"/>
                </a:solidFill>
                <a:latin typeface="Calibri"/>
              </a:rPr>
              <a:t>Managed Postgres + backups + dashboards + Sentry + cron monitors. Email support.</a:t>
            </a:r>
          </a:p>
        </p:txBody>
      </p:sp>
      <p:sp>
        <p:nvSpPr>
          <p:cNvPr id="17" name="Rectangle 16"/>
          <p:cNvSpPr/>
          <p:nvPr/>
        </p:nvSpPr>
        <p:spPr>
          <a:xfrm>
            <a:off x="3657600" y="5532120"/>
            <a:ext cx="228600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57600" y="5623560"/>
            <a:ext cx="2286000" cy="365760"/>
          </a:xfrm>
          <a:prstGeom prst="rect">
            <a:avLst/>
          </a:prstGeom>
          <a:noFill/>
        </p:spPr>
        <p:txBody>
          <a:bodyPr wrap="square" lIns="0" rIns="0" tIns="0" bIns="0" anchor="t">
            <a:spAutoFit/>
          </a:bodyPr>
          <a:lstStyle/>
          <a:p>
            <a:pPr algn="l"/>
            <a:r>
              <a:rPr sz="1400" b="1">
                <a:solidFill>
                  <a:srgbClr val="14B8A6"/>
                </a:solidFill>
                <a:latin typeface="Calibri"/>
              </a:rPr>
              <a:t>$99/seat/mo</a:t>
            </a:r>
          </a:p>
        </p:txBody>
      </p:sp>
      <p:sp>
        <p:nvSpPr>
          <p:cNvPr id="19" name="Rounded Rectangle 18"/>
          <p:cNvSpPr/>
          <p:nvPr/>
        </p:nvSpPr>
        <p:spPr>
          <a:xfrm>
            <a:off x="6309359" y="1828800"/>
            <a:ext cx="2743200" cy="429768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59" y="2057400"/>
            <a:ext cx="2286000" cy="365760"/>
          </a:xfrm>
          <a:prstGeom prst="rect">
            <a:avLst/>
          </a:prstGeom>
          <a:noFill/>
        </p:spPr>
        <p:txBody>
          <a:bodyPr wrap="square" lIns="0" rIns="0" tIns="0" bIns="0" anchor="t">
            <a:spAutoFit/>
          </a:bodyPr>
          <a:lstStyle/>
          <a:p>
            <a:pPr algn="l"/>
            <a:r>
              <a:rPr sz="1100" b="1">
                <a:solidFill>
                  <a:srgbClr val="F59E0B"/>
                </a:solidFill>
                <a:latin typeface="Calibri"/>
              </a:rPr>
              <a:t>SAAS PREMIUM</a:t>
            </a:r>
          </a:p>
        </p:txBody>
      </p:sp>
      <p:sp>
        <p:nvSpPr>
          <p:cNvPr id="21" name="TextBox 20"/>
          <p:cNvSpPr txBox="1"/>
          <p:nvPr/>
        </p:nvSpPr>
        <p:spPr>
          <a:xfrm>
            <a:off x="6537959" y="2468880"/>
            <a:ext cx="2286000" cy="457200"/>
          </a:xfrm>
          <a:prstGeom prst="rect">
            <a:avLst/>
          </a:prstGeom>
          <a:noFill/>
        </p:spPr>
        <p:txBody>
          <a:bodyPr wrap="square" lIns="0" rIns="0" tIns="0" bIns="0" anchor="t">
            <a:spAutoFit/>
          </a:bodyPr>
          <a:lstStyle/>
          <a:p>
            <a:pPr algn="l"/>
            <a:r>
              <a:rPr sz="1500" b="1">
                <a:solidFill>
                  <a:srgbClr val="E9ECF2"/>
                </a:solidFill>
                <a:latin typeface="Calibri"/>
              </a:rPr>
              <a:t>Multi-tenant + ClaudeAdapter</a:t>
            </a:r>
          </a:p>
        </p:txBody>
      </p:sp>
      <p:sp>
        <p:nvSpPr>
          <p:cNvPr id="22" name="TextBox 21"/>
          <p:cNvSpPr txBox="1"/>
          <p:nvPr/>
        </p:nvSpPr>
        <p:spPr>
          <a:xfrm>
            <a:off x="6537959" y="3108960"/>
            <a:ext cx="2286000" cy="2377440"/>
          </a:xfrm>
          <a:prstGeom prst="rect">
            <a:avLst/>
          </a:prstGeom>
          <a:noFill/>
        </p:spPr>
        <p:txBody>
          <a:bodyPr wrap="square" lIns="0" rIns="0" tIns="0" bIns="0" anchor="t">
            <a:spAutoFit/>
          </a:bodyPr>
          <a:lstStyle/>
          <a:p>
            <a:pPr algn="l"/>
            <a:r>
              <a:rPr sz="1200" b="0">
                <a:solidFill>
                  <a:srgbClr val="9AA3B2"/>
                </a:solidFill>
                <a:latin typeface="Calibri"/>
              </a:rPr>
              <a:t>Org isolation, RBAC, SSO, PDF export, advanced OSINT sources (Shodan/Censys/Hunter), priority support, usage metering.</a:t>
            </a:r>
          </a:p>
        </p:txBody>
      </p:sp>
      <p:sp>
        <p:nvSpPr>
          <p:cNvPr id="23" name="Rectangle 22"/>
          <p:cNvSpPr/>
          <p:nvPr/>
        </p:nvSpPr>
        <p:spPr>
          <a:xfrm>
            <a:off x="6537959" y="5532120"/>
            <a:ext cx="228600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59" y="5623560"/>
            <a:ext cx="2286000" cy="365760"/>
          </a:xfrm>
          <a:prstGeom prst="rect">
            <a:avLst/>
          </a:prstGeom>
          <a:noFill/>
        </p:spPr>
        <p:txBody>
          <a:bodyPr wrap="square" lIns="0" rIns="0" tIns="0" bIns="0" anchor="t">
            <a:spAutoFit/>
          </a:bodyPr>
          <a:lstStyle/>
          <a:p>
            <a:pPr algn="l"/>
            <a:r>
              <a:rPr sz="1400" b="1">
                <a:solidFill>
                  <a:srgbClr val="F59E0B"/>
                </a:solidFill>
                <a:latin typeface="Calibri"/>
              </a:rPr>
              <a:t>$499/seat/mo</a:t>
            </a:r>
          </a:p>
        </p:txBody>
      </p:sp>
      <p:sp>
        <p:nvSpPr>
          <p:cNvPr id="25" name="Rounded Rectangle 24"/>
          <p:cNvSpPr/>
          <p:nvPr/>
        </p:nvSpPr>
        <p:spPr>
          <a:xfrm>
            <a:off x="9189719" y="1828800"/>
            <a:ext cx="2743200" cy="4297680"/>
          </a:xfrm>
          <a:prstGeom prst="roundRect">
            <a:avLst/>
          </a:prstGeom>
          <a:solidFill>
            <a:srgbClr val="0B0E13"/>
          </a:solidFill>
          <a:ln w="9525">
            <a:solidFill>
              <a:srgbClr val="1F29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18319" y="2057400"/>
            <a:ext cx="2286000" cy="365760"/>
          </a:xfrm>
          <a:prstGeom prst="rect">
            <a:avLst/>
          </a:prstGeom>
          <a:noFill/>
        </p:spPr>
        <p:txBody>
          <a:bodyPr wrap="square" lIns="0" rIns="0" tIns="0" bIns="0" anchor="t">
            <a:spAutoFit/>
          </a:bodyPr>
          <a:lstStyle/>
          <a:p>
            <a:pPr algn="l"/>
            <a:r>
              <a:rPr sz="1100" b="1">
                <a:solidFill>
                  <a:srgbClr val="EF4444"/>
                </a:solidFill>
                <a:latin typeface="Calibri"/>
              </a:rPr>
              <a:t>ENTERPRISE</a:t>
            </a:r>
          </a:p>
        </p:txBody>
      </p:sp>
      <p:sp>
        <p:nvSpPr>
          <p:cNvPr id="27" name="TextBox 26"/>
          <p:cNvSpPr txBox="1"/>
          <p:nvPr/>
        </p:nvSpPr>
        <p:spPr>
          <a:xfrm>
            <a:off x="9418319" y="2468880"/>
            <a:ext cx="2286000" cy="457200"/>
          </a:xfrm>
          <a:prstGeom prst="rect">
            <a:avLst/>
          </a:prstGeom>
          <a:noFill/>
        </p:spPr>
        <p:txBody>
          <a:bodyPr wrap="square" lIns="0" rIns="0" tIns="0" bIns="0" anchor="t">
            <a:spAutoFit/>
          </a:bodyPr>
          <a:lstStyle/>
          <a:p>
            <a:pPr algn="l"/>
            <a:r>
              <a:rPr sz="1500" b="1">
                <a:solidFill>
                  <a:srgbClr val="E9ECF2"/>
                </a:solidFill>
                <a:latin typeface="Calibri"/>
              </a:rPr>
              <a:t>Air-gapped + custom adapters</a:t>
            </a:r>
          </a:p>
        </p:txBody>
      </p:sp>
      <p:sp>
        <p:nvSpPr>
          <p:cNvPr id="28" name="TextBox 27"/>
          <p:cNvSpPr txBox="1"/>
          <p:nvPr/>
        </p:nvSpPr>
        <p:spPr>
          <a:xfrm>
            <a:off x="9418319" y="3108960"/>
            <a:ext cx="2286000" cy="2377440"/>
          </a:xfrm>
          <a:prstGeom prst="rect">
            <a:avLst/>
          </a:prstGeom>
          <a:noFill/>
        </p:spPr>
        <p:txBody>
          <a:bodyPr wrap="square" lIns="0" rIns="0" tIns="0" bIns="0" anchor="t">
            <a:spAutoFit/>
          </a:bodyPr>
          <a:lstStyle/>
          <a:p>
            <a:pPr algn="l"/>
            <a:r>
              <a:rPr sz="1200" b="0">
                <a:solidFill>
                  <a:srgbClr val="9AA3B2"/>
                </a:solidFill>
                <a:latin typeface="Calibri"/>
              </a:rPr>
              <a:t>Custom AI provider integration, custom OSINT data feeds, in-jurisdiction hosting, SOC2 attestation.</a:t>
            </a:r>
          </a:p>
        </p:txBody>
      </p:sp>
      <p:sp>
        <p:nvSpPr>
          <p:cNvPr id="29" name="Rectangle 28"/>
          <p:cNvSpPr/>
          <p:nvPr/>
        </p:nvSpPr>
        <p:spPr>
          <a:xfrm>
            <a:off x="9418319" y="5532120"/>
            <a:ext cx="228600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19" y="5623560"/>
            <a:ext cx="2286000" cy="365760"/>
          </a:xfrm>
          <a:prstGeom prst="rect">
            <a:avLst/>
          </a:prstGeom>
          <a:noFill/>
        </p:spPr>
        <p:txBody>
          <a:bodyPr wrap="square" lIns="0" rIns="0" tIns="0" bIns="0" anchor="t">
            <a:spAutoFit/>
          </a:bodyPr>
          <a:lstStyle/>
          <a:p>
            <a:pPr algn="l"/>
            <a:r>
              <a:rPr sz="1400" b="1">
                <a:solidFill>
                  <a:srgbClr val="EF4444"/>
                </a:solidFill>
                <a:latin typeface="Calibri"/>
              </a:rPr>
              <a:t>Annual contract</a:t>
            </a:r>
          </a:p>
        </p:txBody>
      </p:sp>
      <p:sp>
        <p:nvSpPr>
          <p:cNvPr id="31" name="TextBox 30"/>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OSS funnel → Team/SaaS upsell. Average $300/seat/mo blended.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DISTRIBUTION</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Go to market.</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12/17</a:t>
            </a:r>
          </a:p>
        </p:txBody>
      </p:sp>
      <p:sp>
        <p:nvSpPr>
          <p:cNvPr id="7" name="TextBox 6"/>
          <p:cNvSpPr txBox="1"/>
          <p:nvPr/>
        </p:nvSpPr>
        <p:spPr>
          <a:xfrm>
            <a:off x="640080" y="1828800"/>
            <a:ext cx="10607040" cy="457200"/>
          </a:xfrm>
          <a:prstGeom prst="rect">
            <a:avLst/>
          </a:prstGeom>
          <a:noFill/>
        </p:spPr>
        <p:txBody>
          <a:bodyPr wrap="square" lIns="0" rIns="0" tIns="0" bIns="0" anchor="t">
            <a:spAutoFit/>
          </a:bodyPr>
          <a:lstStyle/>
          <a:p>
            <a:pPr algn="l"/>
            <a:r>
              <a:rPr sz="1600" b="1">
                <a:solidFill>
                  <a:srgbClr val="E9ECF2"/>
                </a:solidFill>
                <a:latin typeface="Calibri"/>
              </a:rPr>
              <a:t>0 → 1K self-hosted users (Q3 2026)</a:t>
            </a:r>
          </a:p>
        </p:txBody>
      </p:sp>
      <p:sp>
        <p:nvSpPr>
          <p:cNvPr id="8" name="TextBox 7"/>
          <p:cNvSpPr txBox="1"/>
          <p:nvPr/>
        </p:nvSpPr>
        <p:spPr>
          <a:xfrm>
            <a:off x="640080" y="2240280"/>
            <a:ext cx="10607040" cy="548640"/>
          </a:xfrm>
          <a:prstGeom prst="rect">
            <a:avLst/>
          </a:prstGeom>
          <a:noFill/>
        </p:spPr>
        <p:txBody>
          <a:bodyPr wrap="square" lIns="0" rIns="0" tIns="0" bIns="0" anchor="t">
            <a:spAutoFit/>
          </a:bodyPr>
          <a:lstStyle/>
          <a:p>
            <a:pPr algn="l"/>
            <a:r>
              <a:rPr sz="1200" b="0">
                <a:solidFill>
                  <a:srgbClr val="9AA3B2"/>
                </a:solidFill>
                <a:latin typeface="Calibri"/>
              </a:rPr>
              <a:t>Launch on Hacker News, OSINT Discords (TraceLabs, Bellingcat), /r/OSINT, and the Cybersecurity OSS Slack. Bounty for the first 5 published case studies.</a:t>
            </a:r>
          </a:p>
        </p:txBody>
      </p:sp>
      <p:sp>
        <p:nvSpPr>
          <p:cNvPr id="9" name="TextBox 8"/>
          <p:cNvSpPr txBox="1"/>
          <p:nvPr/>
        </p:nvSpPr>
        <p:spPr>
          <a:xfrm>
            <a:off x="640080" y="2880360"/>
            <a:ext cx="10607040" cy="457200"/>
          </a:xfrm>
          <a:prstGeom prst="rect">
            <a:avLst/>
          </a:prstGeom>
          <a:noFill/>
        </p:spPr>
        <p:txBody>
          <a:bodyPr wrap="square" lIns="0" rIns="0" tIns="0" bIns="0" anchor="t">
            <a:spAutoFit/>
          </a:bodyPr>
          <a:lstStyle/>
          <a:p>
            <a:pPr algn="l"/>
            <a:r>
              <a:rPr sz="1600" b="1">
                <a:solidFill>
                  <a:srgbClr val="E9ECF2"/>
                </a:solidFill>
                <a:latin typeface="Calibri"/>
              </a:rPr>
              <a:t>1K → 10K self-hosted users (2027)</a:t>
            </a:r>
          </a:p>
        </p:txBody>
      </p:sp>
      <p:sp>
        <p:nvSpPr>
          <p:cNvPr id="10" name="TextBox 9"/>
          <p:cNvSpPr txBox="1"/>
          <p:nvPr/>
        </p:nvSpPr>
        <p:spPr>
          <a:xfrm>
            <a:off x="640080" y="3291840"/>
            <a:ext cx="10607040" cy="548640"/>
          </a:xfrm>
          <a:prstGeom prst="rect">
            <a:avLst/>
          </a:prstGeom>
          <a:noFill/>
        </p:spPr>
        <p:txBody>
          <a:bodyPr wrap="square" lIns="0" rIns="0" tIns="0" bIns="0" anchor="t">
            <a:spAutoFit/>
          </a:bodyPr>
          <a:lstStyle/>
          <a:p>
            <a:pPr algn="l"/>
            <a:r>
              <a:rPr sz="1200" b="0">
                <a:solidFill>
                  <a:srgbClr val="9AA3B2"/>
                </a:solidFill>
                <a:latin typeface="Calibri"/>
              </a:rPr>
              <a:t>Docs site + integration recipes for SpiderFoot, MISP, OpenCTI. Sponsor TraceLabs CTFs. Conference talks: DEF CON OSINT village, Black Hat Arsenal, FIRST.</a:t>
            </a:r>
          </a:p>
        </p:txBody>
      </p:sp>
      <p:sp>
        <p:nvSpPr>
          <p:cNvPr id="11" name="TextBox 10"/>
          <p:cNvSpPr txBox="1"/>
          <p:nvPr/>
        </p:nvSpPr>
        <p:spPr>
          <a:xfrm>
            <a:off x="640080" y="3931920"/>
            <a:ext cx="10607040" cy="457200"/>
          </a:xfrm>
          <a:prstGeom prst="rect">
            <a:avLst/>
          </a:prstGeom>
          <a:noFill/>
        </p:spPr>
        <p:txBody>
          <a:bodyPr wrap="square" lIns="0" rIns="0" tIns="0" bIns="0" anchor="t">
            <a:spAutoFit/>
          </a:bodyPr>
          <a:lstStyle/>
          <a:p>
            <a:pPr algn="l"/>
            <a:r>
              <a:rPr sz="1600" b="1">
                <a:solidFill>
                  <a:srgbClr val="E9ECF2"/>
                </a:solidFill>
                <a:latin typeface="Calibri"/>
              </a:rPr>
              <a:t>10K → first 100 paid seats (2027)</a:t>
            </a:r>
          </a:p>
        </p:txBody>
      </p:sp>
      <p:sp>
        <p:nvSpPr>
          <p:cNvPr id="12" name="TextBox 11"/>
          <p:cNvSpPr txBox="1"/>
          <p:nvPr/>
        </p:nvSpPr>
        <p:spPr>
          <a:xfrm>
            <a:off x="640080" y="4343400"/>
            <a:ext cx="10607040" cy="548640"/>
          </a:xfrm>
          <a:prstGeom prst="rect">
            <a:avLst/>
          </a:prstGeom>
          <a:noFill/>
        </p:spPr>
        <p:txBody>
          <a:bodyPr wrap="square" lIns="0" rIns="0" tIns="0" bIns="0" anchor="t">
            <a:spAutoFit/>
          </a:bodyPr>
          <a:lstStyle/>
          <a:p>
            <a:pPr algn="l"/>
            <a:r>
              <a:rPr sz="1200" b="0">
                <a:solidFill>
                  <a:srgbClr val="9AA3B2"/>
                </a:solidFill>
                <a:latin typeface="Calibri"/>
              </a:rPr>
              <a:t>Open-source funnel → hosted Team tier. 4% conversion at $99/seat = $400 / month for every 1,000 self-hosters.</a:t>
            </a:r>
          </a:p>
        </p:txBody>
      </p:sp>
      <p:sp>
        <p:nvSpPr>
          <p:cNvPr id="13" name="TextBox 12"/>
          <p:cNvSpPr txBox="1"/>
          <p:nvPr/>
        </p:nvSpPr>
        <p:spPr>
          <a:xfrm>
            <a:off x="640080" y="4983479"/>
            <a:ext cx="10607040" cy="457200"/>
          </a:xfrm>
          <a:prstGeom prst="rect">
            <a:avLst/>
          </a:prstGeom>
          <a:noFill/>
        </p:spPr>
        <p:txBody>
          <a:bodyPr wrap="square" lIns="0" rIns="0" tIns="0" bIns="0" anchor="t">
            <a:spAutoFit/>
          </a:bodyPr>
          <a:lstStyle/>
          <a:p>
            <a:pPr algn="l"/>
            <a:r>
              <a:rPr sz="1600" b="1">
                <a:solidFill>
                  <a:srgbClr val="E9ECF2"/>
                </a:solidFill>
                <a:latin typeface="Calibri"/>
              </a:rPr>
              <a:t>Enterprise design partners (2027–2028)</a:t>
            </a:r>
          </a:p>
        </p:txBody>
      </p:sp>
      <p:sp>
        <p:nvSpPr>
          <p:cNvPr id="14" name="TextBox 13"/>
          <p:cNvSpPr txBox="1"/>
          <p:nvPr/>
        </p:nvSpPr>
        <p:spPr>
          <a:xfrm>
            <a:off x="640080" y="5394959"/>
            <a:ext cx="10607040" cy="548640"/>
          </a:xfrm>
          <a:prstGeom prst="rect">
            <a:avLst/>
          </a:prstGeom>
          <a:noFill/>
        </p:spPr>
        <p:txBody>
          <a:bodyPr wrap="square" lIns="0" rIns="0" tIns="0" bIns="0" anchor="t">
            <a:spAutoFit/>
          </a:bodyPr>
          <a:lstStyle/>
          <a:p>
            <a:pPr algn="l"/>
            <a:r>
              <a:rPr sz="1200" b="0">
                <a:solidFill>
                  <a:srgbClr val="9AA3B2"/>
                </a:solidFill>
                <a:latin typeface="Calibri"/>
              </a:rPr>
              <a:t>Target 3 jurisdictions: EU fraud-investigation firms, US-MSSP IR teams, IGO-affiliated open-source investigators. 5-figure ACV pilots, then 6-figure expansion.</a:t>
            </a:r>
          </a:p>
        </p:txBody>
      </p:sp>
      <p:sp>
        <p:nvSpPr>
          <p:cNvPr id="15" name="TextBox 14"/>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MOAT</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Why this is hard to copy.</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13/17</a:t>
            </a:r>
          </a:p>
        </p:txBody>
      </p:sp>
      <p:sp>
        <p:nvSpPr>
          <p:cNvPr id="7" name="TextBox 6"/>
          <p:cNvSpPr txBox="1"/>
          <p:nvPr/>
        </p:nvSpPr>
        <p:spPr>
          <a:xfrm>
            <a:off x="640080" y="1828800"/>
            <a:ext cx="10607040" cy="457200"/>
          </a:xfrm>
          <a:prstGeom prst="rect">
            <a:avLst/>
          </a:prstGeom>
          <a:noFill/>
        </p:spPr>
        <p:txBody>
          <a:bodyPr wrap="square" lIns="0" rIns="0" tIns="0" bIns="0" anchor="t">
            <a:spAutoFit/>
          </a:bodyPr>
          <a:lstStyle/>
          <a:p>
            <a:pPr algn="l"/>
            <a:r>
              <a:rPr sz="1700" b="1">
                <a:solidFill>
                  <a:srgbClr val="E9ECF2"/>
                </a:solidFill>
                <a:latin typeface="Calibri"/>
              </a:rPr>
              <a:t>Schema is the moat.</a:t>
            </a:r>
          </a:p>
        </p:txBody>
      </p:sp>
      <p:sp>
        <p:nvSpPr>
          <p:cNvPr id="8" name="TextBox 7"/>
          <p:cNvSpPr txBox="1"/>
          <p:nvPr/>
        </p:nvSpPr>
        <p:spPr>
          <a:xfrm>
            <a:off x="640080" y="2240280"/>
            <a:ext cx="10607040" cy="548640"/>
          </a:xfrm>
          <a:prstGeom prst="rect">
            <a:avLst/>
          </a:prstGeom>
          <a:noFill/>
        </p:spPr>
        <p:txBody>
          <a:bodyPr wrap="square" lIns="0" rIns="0" tIns="0" bIns="0" anchor="t">
            <a:spAutoFit/>
          </a:bodyPr>
          <a:lstStyle/>
          <a:p>
            <a:pPr algn="l"/>
            <a:r>
              <a:rPr sz="1300" b="0">
                <a:solidFill>
                  <a:srgbClr val="9AA3B2"/>
                </a:solidFill>
                <a:latin typeface="Calibri"/>
              </a:rPr>
              <a:t>Merging an OSINT model + a Git-style forensic model into one consistent schema with cryptographic audit is a year of design decisions. Copying it requires copying the decisions, not the code.</a:t>
            </a:r>
          </a:p>
        </p:txBody>
      </p:sp>
      <p:sp>
        <p:nvSpPr>
          <p:cNvPr id="9" name="TextBox 8"/>
          <p:cNvSpPr txBox="1"/>
          <p:nvPr/>
        </p:nvSpPr>
        <p:spPr>
          <a:xfrm>
            <a:off x="640080" y="2880360"/>
            <a:ext cx="10607040" cy="457200"/>
          </a:xfrm>
          <a:prstGeom prst="rect">
            <a:avLst/>
          </a:prstGeom>
          <a:noFill/>
        </p:spPr>
        <p:txBody>
          <a:bodyPr wrap="square" lIns="0" rIns="0" tIns="0" bIns="0" anchor="t">
            <a:spAutoFit/>
          </a:bodyPr>
          <a:lstStyle/>
          <a:p>
            <a:pPr algn="l"/>
            <a:r>
              <a:rPr sz="1700" b="1">
                <a:solidFill>
                  <a:srgbClr val="E9ECF2"/>
                </a:solidFill>
                <a:latin typeface="Calibri"/>
              </a:rPr>
              <a:t>Open core is the moat.</a:t>
            </a:r>
          </a:p>
        </p:txBody>
      </p:sp>
      <p:sp>
        <p:nvSpPr>
          <p:cNvPr id="10" name="TextBox 9"/>
          <p:cNvSpPr txBox="1"/>
          <p:nvPr/>
        </p:nvSpPr>
        <p:spPr>
          <a:xfrm>
            <a:off x="640080" y="3291840"/>
            <a:ext cx="10607040" cy="548640"/>
          </a:xfrm>
          <a:prstGeom prst="rect">
            <a:avLst/>
          </a:prstGeom>
          <a:noFill/>
        </p:spPr>
        <p:txBody>
          <a:bodyPr wrap="square" lIns="0" rIns="0" tIns="0" bIns="0" anchor="t">
            <a:spAutoFit/>
          </a:bodyPr>
          <a:lstStyle/>
          <a:p>
            <a:pPr algn="l"/>
            <a:r>
              <a:rPr sz="1300" b="0">
                <a:solidFill>
                  <a:srgbClr val="9AA3B2"/>
                </a:solidFill>
                <a:latin typeface="Calibri"/>
              </a:rPr>
              <a:t>Closed-source competitors can't safely re-implement a hash chain without third-party audits we already publish. We benefit from their inability to copy without conceding the audit story.</a:t>
            </a:r>
          </a:p>
        </p:txBody>
      </p:sp>
      <p:sp>
        <p:nvSpPr>
          <p:cNvPr id="11" name="TextBox 10"/>
          <p:cNvSpPr txBox="1"/>
          <p:nvPr/>
        </p:nvSpPr>
        <p:spPr>
          <a:xfrm>
            <a:off x="640080" y="3931920"/>
            <a:ext cx="10607040" cy="457200"/>
          </a:xfrm>
          <a:prstGeom prst="rect">
            <a:avLst/>
          </a:prstGeom>
          <a:noFill/>
        </p:spPr>
        <p:txBody>
          <a:bodyPr wrap="square" lIns="0" rIns="0" tIns="0" bIns="0" anchor="t">
            <a:spAutoFit/>
          </a:bodyPr>
          <a:lstStyle/>
          <a:p>
            <a:pPr algn="l"/>
            <a:r>
              <a:rPr sz="1700" b="1">
                <a:solidFill>
                  <a:srgbClr val="E9ECF2"/>
                </a:solidFill>
                <a:latin typeface="Calibri"/>
              </a:rPr>
              <a:t>Adapter pattern compounds.</a:t>
            </a:r>
          </a:p>
        </p:txBody>
      </p:sp>
      <p:sp>
        <p:nvSpPr>
          <p:cNvPr id="12" name="TextBox 11"/>
          <p:cNvSpPr txBox="1"/>
          <p:nvPr/>
        </p:nvSpPr>
        <p:spPr>
          <a:xfrm>
            <a:off x="640080" y="4343400"/>
            <a:ext cx="10607040" cy="548640"/>
          </a:xfrm>
          <a:prstGeom prst="rect">
            <a:avLst/>
          </a:prstGeom>
          <a:noFill/>
        </p:spPr>
        <p:txBody>
          <a:bodyPr wrap="square" lIns="0" rIns="0" tIns="0" bIns="0" anchor="t">
            <a:spAutoFit/>
          </a:bodyPr>
          <a:lstStyle/>
          <a:p>
            <a:pPr algn="l"/>
            <a:r>
              <a:rPr sz="1300" b="0">
                <a:solidFill>
                  <a:srgbClr val="9AA3B2"/>
                </a:solidFill>
                <a:latin typeface="Calibri"/>
              </a:rPr>
              <a:t>Every new AI provider added by the community is a new feature for every user. Six adapters today. The seventh will land before we ship the next slide.</a:t>
            </a:r>
          </a:p>
        </p:txBody>
      </p:sp>
      <p:sp>
        <p:nvSpPr>
          <p:cNvPr id="13" name="TextBox 12"/>
          <p:cNvSpPr txBox="1"/>
          <p:nvPr/>
        </p:nvSpPr>
        <p:spPr>
          <a:xfrm>
            <a:off x="640080" y="4983479"/>
            <a:ext cx="10607040" cy="457200"/>
          </a:xfrm>
          <a:prstGeom prst="rect">
            <a:avLst/>
          </a:prstGeom>
          <a:noFill/>
        </p:spPr>
        <p:txBody>
          <a:bodyPr wrap="square" lIns="0" rIns="0" tIns="0" bIns="0" anchor="t">
            <a:spAutoFit/>
          </a:bodyPr>
          <a:lstStyle/>
          <a:p>
            <a:pPr algn="l"/>
            <a:r>
              <a:rPr sz="1700" b="1">
                <a:solidFill>
                  <a:srgbClr val="E9ECF2"/>
                </a:solidFill>
                <a:latin typeface="Calibri"/>
              </a:rPr>
              <a:t>Audit chain is the trust anchor.</a:t>
            </a:r>
          </a:p>
        </p:txBody>
      </p:sp>
      <p:sp>
        <p:nvSpPr>
          <p:cNvPr id="14" name="TextBox 13"/>
          <p:cNvSpPr txBox="1"/>
          <p:nvPr/>
        </p:nvSpPr>
        <p:spPr>
          <a:xfrm>
            <a:off x="640080" y="5394959"/>
            <a:ext cx="10607040" cy="548640"/>
          </a:xfrm>
          <a:prstGeom prst="rect">
            <a:avLst/>
          </a:prstGeom>
          <a:noFill/>
        </p:spPr>
        <p:txBody>
          <a:bodyPr wrap="square" lIns="0" rIns="0" tIns="0" bIns="0" anchor="t">
            <a:spAutoFit/>
          </a:bodyPr>
          <a:lstStyle/>
          <a:p>
            <a:pPr algn="l"/>
            <a:r>
              <a:rPr sz="1300" b="0">
                <a:solidFill>
                  <a:srgbClr val="9AA3B2"/>
                </a:solidFill>
                <a:latin typeface="Calibri"/>
              </a:rPr>
              <a:t>Investigators talk to other investigators. The product that survives a single court challenge is the product the field standardises on. We're playing for that single moment.</a:t>
            </a:r>
          </a:p>
        </p:txBody>
      </p:sp>
      <p:sp>
        <p:nvSpPr>
          <p:cNvPr id="15" name="TextBox 14"/>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TRACTION</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What we've shipped.</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14/17</a:t>
            </a:r>
          </a:p>
        </p:txBody>
      </p:sp>
      <p:sp>
        <p:nvSpPr>
          <p:cNvPr id="7" name="Oval 6"/>
          <p:cNvSpPr/>
          <p:nvPr/>
        </p:nvSpPr>
        <p:spPr>
          <a:xfrm>
            <a:off x="640080" y="1993392"/>
            <a:ext cx="164592" cy="16459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1828800"/>
            <a:ext cx="10607040" cy="365760"/>
          </a:xfrm>
          <a:prstGeom prst="rect">
            <a:avLst/>
          </a:prstGeom>
          <a:noFill/>
        </p:spPr>
        <p:txBody>
          <a:bodyPr wrap="square" lIns="0" rIns="0" tIns="0" bIns="0" anchor="t">
            <a:spAutoFit/>
          </a:bodyPr>
          <a:lstStyle/>
          <a:p>
            <a:pPr algn="l"/>
            <a:r>
              <a:rPr sz="1500" b="1">
                <a:solidFill>
                  <a:srgbClr val="E9ECF2"/>
                </a:solidFill>
                <a:latin typeface="Calibri"/>
              </a:rPr>
              <a:t>19 view-level UI screens shipped</a:t>
            </a:r>
          </a:p>
        </p:txBody>
      </p:sp>
      <p:sp>
        <p:nvSpPr>
          <p:cNvPr id="9" name="TextBox 8"/>
          <p:cNvSpPr txBox="1"/>
          <p:nvPr/>
        </p:nvSpPr>
        <p:spPr>
          <a:xfrm>
            <a:off x="914400" y="2194560"/>
            <a:ext cx="10607040" cy="457200"/>
          </a:xfrm>
          <a:prstGeom prst="rect">
            <a:avLst/>
          </a:prstGeom>
          <a:noFill/>
        </p:spPr>
        <p:txBody>
          <a:bodyPr wrap="square" lIns="0" rIns="0" tIns="0" bIns="0" anchor="t">
            <a:spAutoFit/>
          </a:bodyPr>
          <a:lstStyle/>
          <a:p>
            <a:pPr algn="l"/>
            <a:r>
              <a:rPr sz="1100" b="0">
                <a:solidFill>
                  <a:srgbClr val="9AA3B2"/>
                </a:solidFill>
                <a:latin typeface="Calibri"/>
              </a:rPr>
              <a:t>Dashboard, Investigations, Cases, Evidence, Branch graph, Entity graph, Network graph, Pipeline runner, Audit, Integrity, Monitors, Verification, AI Lab, Reports, Reviews.</a:t>
            </a:r>
          </a:p>
        </p:txBody>
      </p:sp>
      <p:sp>
        <p:nvSpPr>
          <p:cNvPr id="10" name="Oval 9"/>
          <p:cNvSpPr/>
          <p:nvPr/>
        </p:nvSpPr>
        <p:spPr>
          <a:xfrm>
            <a:off x="640080" y="2862072"/>
            <a:ext cx="164592" cy="16459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2697480"/>
            <a:ext cx="10607040" cy="365760"/>
          </a:xfrm>
          <a:prstGeom prst="rect">
            <a:avLst/>
          </a:prstGeom>
          <a:noFill/>
        </p:spPr>
        <p:txBody>
          <a:bodyPr wrap="square" lIns="0" rIns="0" tIns="0" bIns="0" anchor="t">
            <a:spAutoFit/>
          </a:bodyPr>
          <a:lstStyle/>
          <a:p>
            <a:pPr algn="l"/>
            <a:r>
              <a:rPr sz="1500" b="1">
                <a:solidFill>
                  <a:srgbClr val="E9ECF2"/>
                </a:solidFill>
                <a:latin typeface="Calibri"/>
              </a:rPr>
              <a:t>6 AI adapters live</a:t>
            </a:r>
          </a:p>
        </p:txBody>
      </p:sp>
      <p:sp>
        <p:nvSpPr>
          <p:cNvPr id="12" name="TextBox 11"/>
          <p:cNvSpPr txBox="1"/>
          <p:nvPr/>
        </p:nvSpPr>
        <p:spPr>
          <a:xfrm>
            <a:off x="914400" y="3063240"/>
            <a:ext cx="10607040" cy="457200"/>
          </a:xfrm>
          <a:prstGeom prst="rect">
            <a:avLst/>
          </a:prstGeom>
          <a:noFill/>
        </p:spPr>
        <p:txBody>
          <a:bodyPr wrap="square" lIns="0" rIns="0" tIns="0" bIns="0" anchor="t">
            <a:spAutoFit/>
          </a:bodyPr>
          <a:lstStyle/>
          <a:p>
            <a:pPr algn="l"/>
            <a:r>
              <a:rPr sz="1100" b="0">
                <a:solidFill>
                  <a:srgbClr val="9AA3B2"/>
                </a:solidFill>
                <a:latin typeface="Calibri"/>
              </a:rPr>
              <a:t>MockAdapter (deterministic), OllamaAdapter, GLMAdapter, ClaudeAdapter, OpenRouterAdapter, NVIDIAAdapter.</a:t>
            </a:r>
          </a:p>
        </p:txBody>
      </p:sp>
      <p:sp>
        <p:nvSpPr>
          <p:cNvPr id="13" name="Oval 12"/>
          <p:cNvSpPr/>
          <p:nvPr/>
        </p:nvSpPr>
        <p:spPr>
          <a:xfrm>
            <a:off x="640080" y="3730752"/>
            <a:ext cx="164592" cy="16459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3566160"/>
            <a:ext cx="10607040" cy="365760"/>
          </a:xfrm>
          <a:prstGeom prst="rect">
            <a:avLst/>
          </a:prstGeom>
          <a:noFill/>
        </p:spPr>
        <p:txBody>
          <a:bodyPr wrap="square" lIns="0" rIns="0" tIns="0" bIns="0" anchor="t">
            <a:spAutoFit/>
          </a:bodyPr>
          <a:lstStyle/>
          <a:p>
            <a:pPr algn="l"/>
            <a:r>
              <a:rPr sz="1500" b="1">
                <a:solidFill>
                  <a:srgbClr val="E9ECF2"/>
                </a:solidFill>
                <a:latin typeface="Calibri"/>
              </a:rPr>
              <a:t>End-to-end live runs</a:t>
            </a:r>
          </a:p>
        </p:txBody>
      </p:sp>
      <p:sp>
        <p:nvSpPr>
          <p:cNvPr id="15" name="TextBox 14"/>
          <p:cNvSpPr txBox="1"/>
          <p:nvPr/>
        </p:nvSpPr>
        <p:spPr>
          <a:xfrm>
            <a:off x="914400" y="3931920"/>
            <a:ext cx="10607040" cy="457200"/>
          </a:xfrm>
          <a:prstGeom prst="rect">
            <a:avLst/>
          </a:prstGeom>
          <a:noFill/>
        </p:spPr>
        <p:txBody>
          <a:bodyPr wrap="square" lIns="0" rIns="0" tIns="0" bIns="0" anchor="t">
            <a:spAutoFit/>
          </a:bodyPr>
          <a:lstStyle/>
          <a:p>
            <a:pPr algn="l"/>
            <a:r>
              <a:rPr sz="1100" b="0">
                <a:solidFill>
                  <a:srgbClr val="9AA3B2"/>
                </a:solidFill>
                <a:latin typeface="Calibri"/>
              </a:rPr>
              <a:t>47s NVIDIA Llama-3.3-70B pipeline against INV-2025-020 → 11 findings, 5 entities, 7 relations.</a:t>
            </a:r>
          </a:p>
          <a:p>
            <a:pPr algn="l"/>
            <a:r>
              <a:rPr sz="1100" b="0">
                <a:solidFill>
                  <a:srgbClr val="9AA3B2"/>
                </a:solidFill>
                <a:latin typeface="Calibri"/>
              </a:rPr>
              <a:t>82s OpenRouter gpt-oss-120b run on same target → 10 findings, 9 entities, 8 relations + bridge → case + 13 evidence promotions.</a:t>
            </a:r>
          </a:p>
        </p:txBody>
      </p:sp>
      <p:sp>
        <p:nvSpPr>
          <p:cNvPr id="16" name="Oval 15"/>
          <p:cNvSpPr/>
          <p:nvPr/>
        </p:nvSpPr>
        <p:spPr>
          <a:xfrm>
            <a:off x="640080" y="4599431"/>
            <a:ext cx="164592" cy="16459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4400" y="4434839"/>
            <a:ext cx="10607040" cy="365760"/>
          </a:xfrm>
          <a:prstGeom prst="rect">
            <a:avLst/>
          </a:prstGeom>
          <a:noFill/>
        </p:spPr>
        <p:txBody>
          <a:bodyPr wrap="square" lIns="0" rIns="0" tIns="0" bIns="0" anchor="t">
            <a:spAutoFit/>
          </a:bodyPr>
          <a:lstStyle/>
          <a:p>
            <a:pPr algn="l"/>
            <a:r>
              <a:rPr sz="1500" b="1">
                <a:solidFill>
                  <a:srgbClr val="E9ECF2"/>
                </a:solidFill>
                <a:latin typeface="Calibri"/>
              </a:rPr>
              <a:t>Audit chain proven</a:t>
            </a:r>
          </a:p>
        </p:txBody>
      </p:sp>
      <p:sp>
        <p:nvSpPr>
          <p:cNvPr id="18" name="TextBox 17"/>
          <p:cNvSpPr txBox="1"/>
          <p:nvPr/>
        </p:nvSpPr>
        <p:spPr>
          <a:xfrm>
            <a:off x="914400" y="4800599"/>
            <a:ext cx="10607040" cy="457200"/>
          </a:xfrm>
          <a:prstGeom prst="rect">
            <a:avLst/>
          </a:prstGeom>
          <a:noFill/>
        </p:spPr>
        <p:txBody>
          <a:bodyPr wrap="square" lIns="0" rIns="0" tIns="0" bIns="0" anchor="t">
            <a:spAutoFit/>
          </a:bodyPr>
          <a:lstStyle/>
          <a:p>
            <a:pPr algn="l"/>
            <a:r>
              <a:rPr sz="1100" b="0">
                <a:solidFill>
                  <a:srgbClr val="9AA3B2"/>
                </a:solidFill>
                <a:latin typeface="Calibri"/>
              </a:rPr>
              <a:t>verifyAuditChain() green at 19 entries after the full demo cycle. Method documented + reproducible offline.</a:t>
            </a:r>
          </a:p>
        </p:txBody>
      </p:sp>
      <p:sp>
        <p:nvSpPr>
          <p:cNvPr id="19" name="Oval 18"/>
          <p:cNvSpPr/>
          <p:nvPr/>
        </p:nvSpPr>
        <p:spPr>
          <a:xfrm>
            <a:off x="640080" y="5468112"/>
            <a:ext cx="164592" cy="164592"/>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5303520"/>
            <a:ext cx="10607040" cy="365760"/>
          </a:xfrm>
          <a:prstGeom prst="rect">
            <a:avLst/>
          </a:prstGeom>
          <a:noFill/>
        </p:spPr>
        <p:txBody>
          <a:bodyPr wrap="square" lIns="0" rIns="0" tIns="0" bIns="0" anchor="t">
            <a:spAutoFit/>
          </a:bodyPr>
          <a:lstStyle/>
          <a:p>
            <a:pPr algn="l"/>
            <a:r>
              <a:rPr sz="1500" b="1">
                <a:solidFill>
                  <a:srgbClr val="E9ECF2"/>
                </a:solidFill>
                <a:latin typeface="Calibri"/>
              </a:rPr>
              <a:t>Documentation pack</a:t>
            </a:r>
          </a:p>
        </p:txBody>
      </p:sp>
      <p:sp>
        <p:nvSpPr>
          <p:cNvPr id="21" name="TextBox 20"/>
          <p:cNvSpPr txBox="1"/>
          <p:nvPr/>
        </p:nvSpPr>
        <p:spPr>
          <a:xfrm>
            <a:off x="914400" y="5669280"/>
            <a:ext cx="10607040" cy="457200"/>
          </a:xfrm>
          <a:prstGeom prst="rect">
            <a:avLst/>
          </a:prstGeom>
          <a:noFill/>
        </p:spPr>
        <p:txBody>
          <a:bodyPr wrap="square" lIns="0" rIns="0" tIns="0" bIns="0" anchor="t">
            <a:spAutoFit/>
          </a:bodyPr>
          <a:lstStyle/>
          <a:p>
            <a:pPr algn="l"/>
            <a:r>
              <a:rPr sz="1100" b="0">
                <a:solidFill>
                  <a:srgbClr val="9AA3B2"/>
                </a:solidFill>
                <a:latin typeface="Calibri"/>
              </a:rPr>
              <a:t>BRD, SRS, SDS, DFD, Deployment plan, Architecture ADRs, Threat model, API reference, Runbook + this deck.</a:t>
            </a:r>
          </a:p>
        </p:txBody>
      </p:sp>
      <p:sp>
        <p:nvSpPr>
          <p:cNvPr id="22" name="TextBox 21"/>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WHO WE ARE</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Team.</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15/17</a:t>
            </a:r>
          </a:p>
        </p:txBody>
      </p:sp>
      <p:sp>
        <p:nvSpPr>
          <p:cNvPr id="7" name="TextBox 6"/>
          <p:cNvSpPr txBox="1"/>
          <p:nvPr/>
        </p:nvSpPr>
        <p:spPr>
          <a:xfrm>
            <a:off x="548640" y="1828800"/>
            <a:ext cx="6400800" cy="457200"/>
          </a:xfrm>
          <a:prstGeom prst="rect">
            <a:avLst/>
          </a:prstGeom>
          <a:noFill/>
        </p:spPr>
        <p:txBody>
          <a:bodyPr wrap="square" lIns="0" rIns="0" tIns="0" bIns="0" anchor="t">
            <a:spAutoFit/>
          </a:bodyPr>
          <a:lstStyle/>
          <a:p>
            <a:pPr algn="l"/>
            <a:r>
              <a:rPr sz="2000" b="1">
                <a:solidFill>
                  <a:srgbClr val="E9ECF2"/>
                </a:solidFill>
                <a:latin typeface="Calibri"/>
              </a:rPr>
              <a:t>Ali Murtaza Bhutto — Founder + technical lead</a:t>
            </a:r>
          </a:p>
        </p:txBody>
      </p:sp>
      <p:sp>
        <p:nvSpPr>
          <p:cNvPr id="8" name="TextBox 7"/>
          <p:cNvSpPr txBox="1"/>
          <p:nvPr/>
        </p:nvSpPr>
        <p:spPr>
          <a:xfrm>
            <a:off x="548640" y="2377440"/>
            <a:ext cx="6400800" cy="457200"/>
          </a:xfrm>
          <a:prstGeom prst="rect">
            <a:avLst/>
          </a:prstGeom>
          <a:noFill/>
        </p:spPr>
        <p:txBody>
          <a:bodyPr wrap="square" lIns="0" rIns="0" tIns="0" bIns="0" anchor="t">
            <a:spAutoFit/>
          </a:bodyPr>
          <a:lstStyle/>
          <a:p>
            <a:pPr algn="l"/>
            <a:r>
              <a:rPr sz="1400" b="0">
                <a:solidFill>
                  <a:srgbClr val="14B8A6"/>
                </a:solidFill>
                <a:latin typeface="Calibri"/>
              </a:rPr>
              <a:t>AI Security Engineer + OSINT specialist.</a:t>
            </a:r>
          </a:p>
        </p:txBody>
      </p:sp>
      <p:sp>
        <p:nvSpPr>
          <p:cNvPr id="9" name="TextBox 8"/>
          <p:cNvSpPr txBox="1"/>
          <p:nvPr/>
        </p:nvSpPr>
        <p:spPr>
          <a:xfrm>
            <a:off x="548640" y="3017520"/>
            <a:ext cx="6400800" cy="2926080"/>
          </a:xfrm>
          <a:prstGeom prst="rect">
            <a:avLst/>
          </a:prstGeom>
          <a:noFill/>
        </p:spPr>
        <p:txBody>
          <a:bodyPr wrap="square" lIns="0" rIns="0" tIns="0" bIns="0" anchor="t">
            <a:spAutoFit/>
          </a:bodyPr>
          <a:lstStyle/>
          <a:p>
            <a:pPr algn="l"/>
            <a:r>
              <a:rPr sz="1300" b="0">
                <a:solidFill>
                  <a:srgbClr val="E9ECF2"/>
                </a:solidFill>
                <a:latin typeface="Calibri"/>
              </a:rPr>
              <a:t>· CEH V13, CHFI, CNSP, CAP V2, ISO 27001 Associate</a:t>
            </a:r>
          </a:p>
          <a:p>
            <a:pPr algn="l"/>
            <a:r>
              <a:rPr sz="1300" b="0">
                <a:solidFill>
                  <a:srgbClr val="E9ECF2"/>
                </a:solidFill>
                <a:latin typeface="Calibri"/>
              </a:rPr>
              <a:t>· Basel OSINT, Picus Purple Team</a:t>
            </a:r>
          </a:p>
          <a:p>
            <a:pPr algn="l"/>
            <a:r>
              <a:rPr sz="1300" b="0">
                <a:solidFill>
                  <a:srgbClr val="E9ECF2"/>
                </a:solidFill>
                <a:latin typeface="Calibri"/>
              </a:rPr>
              <a:t>· NVIDIA DLI RAG, DeepLearning.AI (LangChain, RAG, Red Team)</a:t>
            </a:r>
          </a:p>
          <a:p>
            <a:pPr algn="l"/>
            <a:r>
              <a:rPr sz="1300" b="0">
                <a:solidFill>
                  <a:srgbClr val="E9ECF2"/>
                </a:solidFill>
                <a:latin typeface="Calibri"/>
              </a:rPr>
              <a:t>· Anthropic Prompt-Engineering + Agentic Workflows</a:t>
            </a:r>
          </a:p>
          <a:p>
            <a:pPr algn="l"/>
            <a:r>
              <a:rPr sz="1300" b="0">
                <a:solidFill>
                  <a:srgbClr val="E9ECF2"/>
                </a:solidFill>
                <a:latin typeface="Calibri"/>
              </a:rPr>
              <a:t>· 3 published research papers on Zenodo (ORCID 0009-0007-2787-943X)</a:t>
            </a:r>
          </a:p>
          <a:p>
            <a:pPr algn="l"/>
            <a:r>
              <a:rPr sz="1300" b="0">
                <a:solidFill>
                  <a:srgbClr val="E9ECF2"/>
                </a:solidFill>
                <a:latin typeface="Calibri"/>
              </a:rPr>
              <a:t>· GitHub: thunderstornX — 15+ shipped OSS security tools</a:t>
            </a:r>
          </a:p>
        </p:txBody>
      </p:sp>
      <p:sp>
        <p:nvSpPr>
          <p:cNvPr id="10" name="Rounded Rectangle 9"/>
          <p:cNvSpPr/>
          <p:nvPr/>
        </p:nvSpPr>
        <p:spPr>
          <a:xfrm>
            <a:off x="548640" y="5943600"/>
            <a:ext cx="1463040" cy="292608"/>
          </a:xfrm>
          <a:prstGeom prst="roundRect">
            <a:avLst/>
          </a:prstGeom>
          <a:solidFill>
            <a:srgbClr val="0B0E13"/>
          </a:solidFill>
          <a:ln w="9525">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14B8A6"/>
                </a:solidFill>
                <a:latin typeface="Calibri"/>
              </a:rPr>
              <a:t>github.com/thunderstornX</a:t>
            </a:r>
          </a:p>
        </p:txBody>
      </p:sp>
      <p:sp>
        <p:nvSpPr>
          <p:cNvPr id="11" name="Rounded Rectangle 10"/>
          <p:cNvSpPr/>
          <p:nvPr/>
        </p:nvSpPr>
        <p:spPr>
          <a:xfrm>
            <a:off x="2377440" y="5943600"/>
            <a:ext cx="1508760" cy="292608"/>
          </a:xfrm>
          <a:prstGeom prst="roundRect">
            <a:avLst/>
          </a:prstGeom>
          <a:solidFill>
            <a:srgbClr val="0B0E13"/>
          </a:solidFill>
          <a:ln w="9525">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34D399"/>
                </a:solidFill>
                <a:latin typeface="Calibri"/>
              </a:rPr>
              <a:t>alibhutto101112@gmail.com</a:t>
            </a:r>
          </a:p>
        </p:txBody>
      </p:sp>
      <p:sp>
        <p:nvSpPr>
          <p:cNvPr id="12" name="Rounded Rectangle 11"/>
          <p:cNvSpPr/>
          <p:nvPr/>
        </p:nvSpPr>
        <p:spPr>
          <a:xfrm>
            <a:off x="4937760" y="5943600"/>
            <a:ext cx="1508760" cy="292608"/>
          </a:xfrm>
          <a:prstGeom prst="roundRect">
            <a:avLst/>
          </a:prstGeom>
          <a:solidFill>
            <a:srgbClr val="0B0E13"/>
          </a:solidFill>
          <a:ln w="9525">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lIns="101600" rIns="101600" tIns="25400" bIns="25400"/>
          <a:lstStyle/>
          <a:p>
            <a:pPr algn="l"/>
            <a:r>
              <a:rPr sz="1000">
                <a:solidFill>
                  <a:srgbClr val="F59E0B"/>
                </a:solidFill>
                <a:latin typeface="Calibri"/>
              </a:rPr>
              <a:t>ORCID 0009-0007-2787-943X</a:t>
            </a:r>
          </a:p>
        </p:txBody>
      </p:sp>
      <p:sp>
        <p:nvSpPr>
          <p:cNvPr id="13" name="TextBox 12"/>
          <p:cNvSpPr txBox="1"/>
          <p:nvPr/>
        </p:nvSpPr>
        <p:spPr>
          <a:xfrm>
            <a:off x="7680960" y="1828800"/>
            <a:ext cx="4023360" cy="365760"/>
          </a:xfrm>
          <a:prstGeom prst="rect">
            <a:avLst/>
          </a:prstGeom>
          <a:noFill/>
        </p:spPr>
        <p:txBody>
          <a:bodyPr wrap="square" lIns="0" rIns="0" tIns="0" bIns="0" anchor="t">
            <a:spAutoFit/>
          </a:bodyPr>
          <a:lstStyle/>
          <a:p>
            <a:pPr algn="l"/>
            <a:r>
              <a:rPr sz="1200" b="1">
                <a:solidFill>
                  <a:srgbClr val="14B8A6"/>
                </a:solidFill>
                <a:latin typeface="Calibri"/>
              </a:rPr>
              <a:t>Hiring next</a:t>
            </a:r>
          </a:p>
        </p:txBody>
      </p:sp>
      <p:sp>
        <p:nvSpPr>
          <p:cNvPr id="14" name="TextBox 13"/>
          <p:cNvSpPr txBox="1"/>
          <p:nvPr/>
        </p:nvSpPr>
        <p:spPr>
          <a:xfrm>
            <a:off x="7680960" y="2194560"/>
            <a:ext cx="4023360" cy="457200"/>
          </a:xfrm>
          <a:prstGeom prst="rect">
            <a:avLst/>
          </a:prstGeom>
          <a:noFill/>
        </p:spPr>
        <p:txBody>
          <a:bodyPr wrap="square" lIns="0" rIns="0" tIns="0" bIns="0" anchor="t">
            <a:spAutoFit/>
          </a:bodyPr>
          <a:lstStyle/>
          <a:p>
            <a:pPr algn="l"/>
            <a:r>
              <a:rPr sz="1500" b="1">
                <a:solidFill>
                  <a:srgbClr val="E9ECF2"/>
                </a:solidFill>
                <a:latin typeface="Calibri"/>
              </a:rPr>
              <a:t>Two engineers + one design partner.</a:t>
            </a:r>
          </a:p>
        </p:txBody>
      </p:sp>
      <p:sp>
        <p:nvSpPr>
          <p:cNvPr id="15" name="TextBox 14"/>
          <p:cNvSpPr txBox="1"/>
          <p:nvPr/>
        </p:nvSpPr>
        <p:spPr>
          <a:xfrm>
            <a:off x="7680960" y="2743200"/>
            <a:ext cx="4023360" cy="3200400"/>
          </a:xfrm>
          <a:prstGeom prst="rect">
            <a:avLst/>
          </a:prstGeom>
          <a:noFill/>
        </p:spPr>
        <p:txBody>
          <a:bodyPr wrap="square" lIns="0" rIns="0" tIns="0" bIns="0" anchor="t">
            <a:spAutoFit/>
          </a:bodyPr>
          <a:lstStyle/>
          <a:p>
            <a:pPr algn="l"/>
            <a:r>
              <a:rPr sz="1200" b="0">
                <a:solidFill>
                  <a:srgbClr val="9AA3B2"/>
                </a:solidFill>
                <a:latin typeface="Calibri"/>
              </a:rPr>
              <a:t>1. Senior platform engineer — Postgres + RBAC + multi-tenant.</a:t>
            </a:r>
          </a:p>
          <a:p>
            <a:pPr algn="l"/>
            <a:r>
              <a:rPr sz="1200" b="0">
                <a:solidFill>
                  <a:srgbClr val="9AA3B2"/>
                </a:solidFill>
                <a:latin typeface="Calibri"/>
              </a:rPr>
              <a:t/>
            </a:r>
          </a:p>
          <a:p>
            <a:pPr algn="l"/>
            <a:r>
              <a:rPr sz="1200" b="0">
                <a:solidFill>
                  <a:srgbClr val="9AA3B2"/>
                </a:solidFill>
                <a:latin typeface="Calibri"/>
              </a:rPr>
              <a:t>2. ML engineer — adapter integrations + tool-use + agent supervision.</a:t>
            </a:r>
          </a:p>
          <a:p>
            <a:pPr algn="l"/>
            <a:r>
              <a:rPr sz="1200" b="0">
                <a:solidFill>
                  <a:srgbClr val="9AA3B2"/>
                </a:solidFill>
                <a:latin typeface="Calibri"/>
              </a:rPr>
              <a:t/>
            </a:r>
          </a:p>
          <a:p>
            <a:pPr algn="l"/>
            <a:r>
              <a:rPr sz="1200" b="0">
                <a:solidFill>
                  <a:srgbClr val="9AA3B2"/>
                </a:solidFill>
                <a:latin typeface="Calibri"/>
              </a:rPr>
              <a:t>3. Design partner — boutique OSINT firm or IR/forensics team with an active caseload and willingness to give weekly feedback.</a:t>
            </a:r>
          </a:p>
        </p:txBody>
      </p:sp>
      <p:sp>
        <p:nvSpPr>
          <p:cNvPr id="16" name="TextBox 15"/>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forenix-oss · OSINT × Forensics, one platform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FUNDING</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The ask.</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16/17</a:t>
            </a:r>
          </a:p>
        </p:txBody>
      </p:sp>
      <p:sp>
        <p:nvSpPr>
          <p:cNvPr id="7" name="TextBox 6"/>
          <p:cNvSpPr txBox="1"/>
          <p:nvPr/>
        </p:nvSpPr>
        <p:spPr>
          <a:xfrm>
            <a:off x="548640" y="1828800"/>
            <a:ext cx="7315200" cy="548640"/>
          </a:xfrm>
          <a:prstGeom prst="rect">
            <a:avLst/>
          </a:prstGeom>
          <a:noFill/>
        </p:spPr>
        <p:txBody>
          <a:bodyPr wrap="square" lIns="0" rIns="0" tIns="0" bIns="0" anchor="t">
            <a:spAutoFit/>
          </a:bodyPr>
          <a:lstStyle/>
          <a:p>
            <a:pPr algn="l"/>
            <a:r>
              <a:rPr sz="4200" b="1">
                <a:solidFill>
                  <a:srgbClr val="14B8A6"/>
                </a:solidFill>
                <a:latin typeface="Calibri"/>
              </a:rPr>
              <a:t>$500K SAFE @ $10M post-cap.</a:t>
            </a:r>
          </a:p>
        </p:txBody>
      </p:sp>
      <p:sp>
        <p:nvSpPr>
          <p:cNvPr id="8" name="TextBox 7"/>
          <p:cNvSpPr txBox="1"/>
          <p:nvPr/>
        </p:nvSpPr>
        <p:spPr>
          <a:xfrm>
            <a:off x="548640" y="2834640"/>
            <a:ext cx="7315200" cy="457200"/>
          </a:xfrm>
          <a:prstGeom prst="rect">
            <a:avLst/>
          </a:prstGeom>
          <a:noFill/>
        </p:spPr>
        <p:txBody>
          <a:bodyPr wrap="square" lIns="0" rIns="0" tIns="0" bIns="0" anchor="t">
            <a:spAutoFit/>
          </a:bodyPr>
          <a:lstStyle/>
          <a:p>
            <a:pPr algn="l"/>
            <a:r>
              <a:rPr sz="1500" b="0">
                <a:solidFill>
                  <a:srgbClr val="E9ECF2"/>
                </a:solidFill>
                <a:latin typeface="Calibri"/>
              </a:rPr>
              <a:t>Buys us 18 months of runway. Concrete deliverables:</a:t>
            </a:r>
          </a:p>
        </p:txBody>
      </p:sp>
      <p:sp>
        <p:nvSpPr>
          <p:cNvPr id="9" name="TextBox 8"/>
          <p:cNvSpPr txBox="1"/>
          <p:nvPr/>
        </p:nvSpPr>
        <p:spPr>
          <a:xfrm>
            <a:off x="640080" y="3383280"/>
            <a:ext cx="1463040" cy="365760"/>
          </a:xfrm>
          <a:prstGeom prst="rect">
            <a:avLst/>
          </a:prstGeom>
          <a:noFill/>
        </p:spPr>
        <p:txBody>
          <a:bodyPr wrap="square" lIns="0" rIns="0" tIns="0" bIns="0" anchor="t">
            <a:spAutoFit/>
          </a:bodyPr>
          <a:lstStyle/>
          <a:p>
            <a:pPr algn="l"/>
            <a:r>
              <a:rPr sz="1400" b="1">
                <a:solidFill>
                  <a:srgbClr val="14B8A6"/>
                </a:solidFill>
                <a:latin typeface="Calibri"/>
              </a:rPr>
              <a:t>Q3 2026</a:t>
            </a:r>
          </a:p>
        </p:txBody>
      </p:sp>
      <p:sp>
        <p:nvSpPr>
          <p:cNvPr id="10" name="TextBox 9"/>
          <p:cNvSpPr txBox="1"/>
          <p:nvPr/>
        </p:nvSpPr>
        <p:spPr>
          <a:xfrm>
            <a:off x="2194560" y="3383280"/>
            <a:ext cx="9509760" cy="365760"/>
          </a:xfrm>
          <a:prstGeom prst="rect">
            <a:avLst/>
          </a:prstGeom>
          <a:noFill/>
        </p:spPr>
        <p:txBody>
          <a:bodyPr wrap="square" lIns="0" rIns="0" tIns="0" bIns="0" anchor="t">
            <a:spAutoFit/>
          </a:bodyPr>
          <a:lstStyle/>
          <a:p>
            <a:pPr algn="l"/>
            <a:r>
              <a:rPr sz="1300" b="0">
                <a:solidFill>
                  <a:srgbClr val="E9ECF2"/>
                </a:solidFill>
                <a:latin typeface="Calibri"/>
              </a:rPr>
              <a:t>Docker-compose deploy + on-call runbook + first 50 self-hosted users.</a:t>
            </a:r>
          </a:p>
        </p:txBody>
      </p:sp>
      <p:sp>
        <p:nvSpPr>
          <p:cNvPr id="11" name="TextBox 10"/>
          <p:cNvSpPr txBox="1"/>
          <p:nvPr/>
        </p:nvSpPr>
        <p:spPr>
          <a:xfrm>
            <a:off x="640080" y="3977640"/>
            <a:ext cx="1463040" cy="365760"/>
          </a:xfrm>
          <a:prstGeom prst="rect">
            <a:avLst/>
          </a:prstGeom>
          <a:noFill/>
        </p:spPr>
        <p:txBody>
          <a:bodyPr wrap="square" lIns="0" rIns="0" tIns="0" bIns="0" anchor="t">
            <a:spAutoFit/>
          </a:bodyPr>
          <a:lstStyle/>
          <a:p>
            <a:pPr algn="l"/>
            <a:r>
              <a:rPr sz="1400" b="1">
                <a:solidFill>
                  <a:srgbClr val="14B8A6"/>
                </a:solidFill>
                <a:latin typeface="Calibri"/>
              </a:rPr>
              <a:t>Q4 2026</a:t>
            </a:r>
          </a:p>
        </p:txBody>
      </p:sp>
      <p:sp>
        <p:nvSpPr>
          <p:cNvPr id="12" name="TextBox 11"/>
          <p:cNvSpPr txBox="1"/>
          <p:nvPr/>
        </p:nvSpPr>
        <p:spPr>
          <a:xfrm>
            <a:off x="2194560" y="3977640"/>
            <a:ext cx="9509760" cy="365760"/>
          </a:xfrm>
          <a:prstGeom prst="rect">
            <a:avLst/>
          </a:prstGeom>
          <a:noFill/>
        </p:spPr>
        <p:txBody>
          <a:bodyPr wrap="square" lIns="0" rIns="0" tIns="0" bIns="0" anchor="t">
            <a:spAutoFit/>
          </a:bodyPr>
          <a:lstStyle/>
          <a:p>
            <a:pPr algn="l"/>
            <a:r>
              <a:rPr sz="1300" b="0">
                <a:solidFill>
                  <a:srgbClr val="E9ECF2"/>
                </a:solidFill>
                <a:latin typeface="Calibri"/>
              </a:rPr>
              <a:t>PDF report export · multi-tenant org isolation · ClaudeAdapter live.</a:t>
            </a:r>
          </a:p>
        </p:txBody>
      </p:sp>
      <p:sp>
        <p:nvSpPr>
          <p:cNvPr id="13" name="TextBox 12"/>
          <p:cNvSpPr txBox="1"/>
          <p:nvPr/>
        </p:nvSpPr>
        <p:spPr>
          <a:xfrm>
            <a:off x="640080" y="4572000"/>
            <a:ext cx="1463040" cy="365760"/>
          </a:xfrm>
          <a:prstGeom prst="rect">
            <a:avLst/>
          </a:prstGeom>
          <a:noFill/>
        </p:spPr>
        <p:txBody>
          <a:bodyPr wrap="square" lIns="0" rIns="0" tIns="0" bIns="0" anchor="t">
            <a:spAutoFit/>
          </a:bodyPr>
          <a:lstStyle/>
          <a:p>
            <a:pPr algn="l"/>
            <a:r>
              <a:rPr sz="1400" b="1">
                <a:solidFill>
                  <a:srgbClr val="14B8A6"/>
                </a:solidFill>
                <a:latin typeface="Calibri"/>
              </a:rPr>
              <a:t>Q1 2027</a:t>
            </a:r>
          </a:p>
        </p:txBody>
      </p:sp>
      <p:sp>
        <p:nvSpPr>
          <p:cNvPr id="14" name="TextBox 13"/>
          <p:cNvSpPr txBox="1"/>
          <p:nvPr/>
        </p:nvSpPr>
        <p:spPr>
          <a:xfrm>
            <a:off x="2194560" y="4572000"/>
            <a:ext cx="9509760" cy="365760"/>
          </a:xfrm>
          <a:prstGeom prst="rect">
            <a:avLst/>
          </a:prstGeom>
          <a:noFill/>
        </p:spPr>
        <p:txBody>
          <a:bodyPr wrap="square" lIns="0" rIns="0" tIns="0" bIns="0" anchor="t">
            <a:spAutoFit/>
          </a:bodyPr>
          <a:lstStyle/>
          <a:p>
            <a:pPr algn="l"/>
            <a:r>
              <a:rPr sz="1300" b="0">
                <a:solidFill>
                  <a:srgbClr val="E9ECF2"/>
                </a:solidFill>
                <a:latin typeface="Calibri"/>
              </a:rPr>
              <a:t>Third-party cryptographic audit of the chain. First court-admissible export.</a:t>
            </a:r>
          </a:p>
        </p:txBody>
      </p:sp>
      <p:sp>
        <p:nvSpPr>
          <p:cNvPr id="15" name="TextBox 14"/>
          <p:cNvSpPr txBox="1"/>
          <p:nvPr/>
        </p:nvSpPr>
        <p:spPr>
          <a:xfrm>
            <a:off x="640080" y="5166360"/>
            <a:ext cx="1463040" cy="365760"/>
          </a:xfrm>
          <a:prstGeom prst="rect">
            <a:avLst/>
          </a:prstGeom>
          <a:noFill/>
        </p:spPr>
        <p:txBody>
          <a:bodyPr wrap="square" lIns="0" rIns="0" tIns="0" bIns="0" anchor="t">
            <a:spAutoFit/>
          </a:bodyPr>
          <a:lstStyle/>
          <a:p>
            <a:pPr algn="l"/>
            <a:r>
              <a:rPr sz="1400" b="1">
                <a:solidFill>
                  <a:srgbClr val="14B8A6"/>
                </a:solidFill>
                <a:latin typeface="Calibri"/>
              </a:rPr>
              <a:t>Q2 2027</a:t>
            </a:r>
          </a:p>
        </p:txBody>
      </p:sp>
      <p:sp>
        <p:nvSpPr>
          <p:cNvPr id="16" name="TextBox 15"/>
          <p:cNvSpPr txBox="1"/>
          <p:nvPr/>
        </p:nvSpPr>
        <p:spPr>
          <a:xfrm>
            <a:off x="2194560" y="5166360"/>
            <a:ext cx="9509760" cy="365760"/>
          </a:xfrm>
          <a:prstGeom prst="rect">
            <a:avLst/>
          </a:prstGeom>
          <a:noFill/>
        </p:spPr>
        <p:txBody>
          <a:bodyPr wrap="square" lIns="0" rIns="0" tIns="0" bIns="0" anchor="t">
            <a:spAutoFit/>
          </a:bodyPr>
          <a:lstStyle/>
          <a:p>
            <a:pPr algn="l"/>
            <a:r>
              <a:rPr sz="1300" b="0">
                <a:solidFill>
                  <a:srgbClr val="E9ECF2"/>
                </a:solidFill>
                <a:latin typeface="Calibri"/>
              </a:rPr>
              <a:t>First 10 paying Team-tier customers. $30K MRR.</a:t>
            </a:r>
          </a:p>
        </p:txBody>
      </p:sp>
      <p:sp>
        <p:nvSpPr>
          <p:cNvPr id="17" name="TextBox 16"/>
          <p:cNvSpPr txBox="1"/>
          <p:nvPr/>
        </p:nvSpPr>
        <p:spPr>
          <a:xfrm>
            <a:off x="640080" y="5760720"/>
            <a:ext cx="1463040" cy="365760"/>
          </a:xfrm>
          <a:prstGeom prst="rect">
            <a:avLst/>
          </a:prstGeom>
          <a:noFill/>
        </p:spPr>
        <p:txBody>
          <a:bodyPr wrap="square" lIns="0" rIns="0" tIns="0" bIns="0" anchor="t">
            <a:spAutoFit/>
          </a:bodyPr>
          <a:lstStyle/>
          <a:p>
            <a:pPr algn="l"/>
            <a:r>
              <a:rPr sz="1400" b="1">
                <a:solidFill>
                  <a:srgbClr val="14B8A6"/>
                </a:solidFill>
                <a:latin typeface="Calibri"/>
              </a:rPr>
              <a:t>Q3 2027</a:t>
            </a:r>
          </a:p>
        </p:txBody>
      </p:sp>
      <p:sp>
        <p:nvSpPr>
          <p:cNvPr id="18" name="TextBox 17"/>
          <p:cNvSpPr txBox="1"/>
          <p:nvPr/>
        </p:nvSpPr>
        <p:spPr>
          <a:xfrm>
            <a:off x="2194560" y="5760720"/>
            <a:ext cx="9509760" cy="365760"/>
          </a:xfrm>
          <a:prstGeom prst="rect">
            <a:avLst/>
          </a:prstGeom>
          <a:noFill/>
        </p:spPr>
        <p:txBody>
          <a:bodyPr wrap="square" lIns="0" rIns="0" tIns="0" bIns="0" anchor="t">
            <a:spAutoFit/>
          </a:bodyPr>
          <a:lstStyle/>
          <a:p>
            <a:pPr algn="l"/>
            <a:r>
              <a:rPr sz="1300" b="0">
                <a:solidFill>
                  <a:srgbClr val="E9ECF2"/>
                </a:solidFill>
                <a:latin typeface="Calibri"/>
              </a:rPr>
              <a:t>First 3 SaaS-premium pilots. $100K ARR.</a:t>
            </a:r>
          </a:p>
        </p:txBody>
      </p:sp>
      <p:sp>
        <p:nvSpPr>
          <p:cNvPr id="19" name="TextBox 18"/>
          <p:cNvSpPr txBox="1"/>
          <p:nvPr/>
        </p:nvSpPr>
        <p:spPr>
          <a:xfrm>
            <a:off x="7680960" y="1828800"/>
            <a:ext cx="4023360" cy="365760"/>
          </a:xfrm>
          <a:prstGeom prst="rect">
            <a:avLst/>
          </a:prstGeom>
          <a:noFill/>
        </p:spPr>
        <p:txBody>
          <a:bodyPr wrap="square" lIns="0" rIns="0" tIns="0" bIns="0" anchor="t">
            <a:spAutoFit/>
          </a:bodyPr>
          <a:lstStyle/>
          <a:p>
            <a:pPr algn="l"/>
            <a:r>
              <a:rPr sz="1200" b="1">
                <a:solidFill>
                  <a:srgbClr val="14B8A6"/>
                </a:solidFill>
                <a:latin typeface="Calibri"/>
              </a:rPr>
              <a:t>Risk-adjusted math</a:t>
            </a:r>
          </a:p>
        </p:txBody>
      </p:sp>
      <p:sp>
        <p:nvSpPr>
          <p:cNvPr id="20" name="TextBox 19"/>
          <p:cNvSpPr txBox="1"/>
          <p:nvPr/>
        </p:nvSpPr>
        <p:spPr>
          <a:xfrm>
            <a:off x="7680960" y="2286000"/>
            <a:ext cx="4023360" cy="3200400"/>
          </a:xfrm>
          <a:prstGeom prst="rect">
            <a:avLst/>
          </a:prstGeom>
          <a:noFill/>
        </p:spPr>
        <p:txBody>
          <a:bodyPr wrap="square" lIns="0" rIns="0" tIns="0" bIns="0" anchor="t">
            <a:spAutoFit/>
          </a:bodyPr>
          <a:lstStyle/>
          <a:p>
            <a:pPr algn="l"/>
            <a:r>
              <a:rPr sz="1200" b="0">
                <a:solidFill>
                  <a:srgbClr val="9AA3B2"/>
                </a:solidFill>
                <a:latin typeface="Calibri"/>
              </a:rPr>
              <a:t>OSS funnel: 50K visitors → 10K installs → 400 paid seats</a:t>
            </a:r>
          </a:p>
          <a:p>
            <a:pPr algn="l"/>
            <a:r>
              <a:rPr sz="1200" b="0">
                <a:solidFill>
                  <a:srgbClr val="9AA3B2"/>
                </a:solidFill>
                <a:latin typeface="Calibri"/>
              </a:rPr>
              <a:t/>
            </a:r>
          </a:p>
          <a:p>
            <a:pPr algn="l"/>
            <a:r>
              <a:rPr sz="1200" b="0">
                <a:solidFill>
                  <a:srgbClr val="9AA3B2"/>
                </a:solidFill>
                <a:latin typeface="Calibri"/>
              </a:rPr>
              <a:t>ARR at month 18: $1.4M (blended $300/seat)</a:t>
            </a:r>
          </a:p>
          <a:p>
            <a:pPr algn="l"/>
            <a:r>
              <a:rPr sz="1200" b="0">
                <a:solidFill>
                  <a:srgbClr val="9AA3B2"/>
                </a:solidFill>
                <a:latin typeface="Calibri"/>
              </a:rPr>
              <a:t/>
            </a:r>
          </a:p>
          <a:p>
            <a:pPr algn="l"/>
            <a:r>
              <a:rPr sz="1200" b="0">
                <a:solidFill>
                  <a:srgbClr val="9AA3B2"/>
                </a:solidFill>
                <a:latin typeface="Calibri"/>
              </a:rPr>
              <a:t>Capital efficiency: $500K → $1.4M ARR = 2.8× revenue</a:t>
            </a:r>
          </a:p>
          <a:p>
            <a:pPr algn="l"/>
            <a:r>
              <a:rPr sz="1200" b="0">
                <a:solidFill>
                  <a:srgbClr val="9AA3B2"/>
                </a:solidFill>
                <a:latin typeface="Calibri"/>
              </a:rPr>
              <a:t/>
            </a:r>
          </a:p>
          <a:p>
            <a:pPr algn="l"/>
            <a:r>
              <a:rPr sz="1200" b="0">
                <a:solidFill>
                  <a:srgbClr val="9AA3B2"/>
                </a:solidFill>
                <a:latin typeface="Calibri"/>
              </a:rPr>
              <a:t>Burn: 3 FTE × $7K/mo + infra $1K/mo = $22K/mo</a:t>
            </a:r>
          </a:p>
          <a:p>
            <a:pPr algn="l"/>
            <a:r>
              <a:rPr sz="1200" b="0">
                <a:solidFill>
                  <a:srgbClr val="9AA3B2"/>
                </a:solidFill>
                <a:latin typeface="Calibri"/>
              </a:rPr>
              <a:t/>
            </a:r>
          </a:p>
          <a:p>
            <a:pPr algn="l"/>
            <a:r>
              <a:rPr sz="1200" b="0">
                <a:solidFill>
                  <a:srgbClr val="9AA3B2"/>
                </a:solidFill>
                <a:latin typeface="Calibri"/>
              </a:rPr>
              <a:t>Runway: $500K / $22K = 22 months</a:t>
            </a:r>
          </a:p>
        </p:txBody>
      </p:sp>
      <p:sp>
        <p:nvSpPr>
          <p:cNvPr id="21" name="TextBox 20"/>
          <p:cNvSpPr txBox="1"/>
          <p:nvPr/>
        </p:nvSpPr>
        <p:spPr>
          <a:xfrm>
            <a:off x="548640" y="6446520"/>
            <a:ext cx="11064240" cy="274320"/>
          </a:xfrm>
          <a:prstGeom prst="rect">
            <a:avLst/>
          </a:prstGeom>
          <a:noFill/>
        </p:spPr>
        <p:txBody>
          <a:bodyPr wrap="square" lIns="0" rIns="0" tIns="0" bIns="0" anchor="t">
            <a:spAutoFit/>
          </a:bodyPr>
          <a:lstStyle/>
          <a:p>
            <a:pPr algn="l"/>
            <a:r>
              <a:rPr sz="900" b="0">
                <a:solidFill>
                  <a:srgbClr val="9AA3B2"/>
                </a:solidFill>
                <a:latin typeface="Calibri"/>
              </a:rPr>
              <a:t>Contact: alibhutto101112@gmail.com · github.com/thunderstornX/forenix-oss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5060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65760"/>
            <a:ext cx="7315200" cy="365760"/>
          </a:xfrm>
          <a:prstGeom prst="rect">
            <a:avLst/>
          </a:prstGeom>
          <a:noFill/>
        </p:spPr>
        <p:txBody>
          <a:bodyPr wrap="square" lIns="0" rIns="0" tIns="0" bIns="0" anchor="t">
            <a:spAutoFit/>
          </a:bodyPr>
          <a:lstStyle/>
          <a:p>
            <a:pPr algn="l"/>
            <a:r>
              <a:rPr sz="1000" b="1">
                <a:solidFill>
                  <a:srgbClr val="14B8A6"/>
                </a:solidFill>
                <a:latin typeface="Calibri"/>
              </a:rPr>
              <a:t>WHERE THIS GOES</a:t>
            </a:r>
          </a:p>
        </p:txBody>
      </p:sp>
      <p:sp>
        <p:nvSpPr>
          <p:cNvPr id="4" name="TextBox 3"/>
          <p:cNvSpPr txBox="1"/>
          <p:nvPr/>
        </p:nvSpPr>
        <p:spPr>
          <a:xfrm>
            <a:off x="548640" y="640080"/>
            <a:ext cx="10972800" cy="822960"/>
          </a:xfrm>
          <a:prstGeom prst="rect">
            <a:avLst/>
          </a:prstGeom>
          <a:noFill/>
        </p:spPr>
        <p:txBody>
          <a:bodyPr wrap="square" lIns="0" rIns="0" tIns="0" bIns="0" anchor="t">
            <a:spAutoFit/>
          </a:bodyPr>
          <a:lstStyle/>
          <a:p>
            <a:pPr algn="l"/>
            <a:r>
              <a:rPr sz="3200" b="1">
                <a:solidFill>
                  <a:srgbClr val="E9ECF2"/>
                </a:solidFill>
                <a:latin typeface="Calibri"/>
              </a:rPr>
              <a:t>Vision.</a:t>
            </a:r>
          </a:p>
        </p:txBody>
      </p:sp>
      <p:sp>
        <p:nvSpPr>
          <p:cNvPr id="5" name="Rectangle 4"/>
          <p:cNvSpPr/>
          <p:nvPr/>
        </p:nvSpPr>
        <p:spPr>
          <a:xfrm>
            <a:off x="548640" y="1463040"/>
            <a:ext cx="11064240" cy="12700"/>
          </a:xfrm>
          <a:prstGeom prst="rect">
            <a:avLst/>
          </a:prstGeom>
          <a:solidFill>
            <a:srgbClr val="1F29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0" y="411480"/>
            <a:ext cx="1371600" cy="274320"/>
          </a:xfrm>
          <a:prstGeom prst="rect">
            <a:avLst/>
          </a:prstGeom>
          <a:noFill/>
        </p:spPr>
        <p:txBody>
          <a:bodyPr wrap="square" lIns="0" rIns="0" tIns="0" bIns="0" anchor="t">
            <a:spAutoFit/>
          </a:bodyPr>
          <a:lstStyle/>
          <a:p>
            <a:pPr algn="r"/>
            <a:r>
              <a:rPr sz="900" b="0">
                <a:solidFill>
                  <a:srgbClr val="9AA3B2"/>
                </a:solidFill>
                <a:latin typeface="Calibri"/>
              </a:rPr>
              <a:t>forenix-oss · 17/17</a:t>
            </a:r>
          </a:p>
        </p:txBody>
      </p:sp>
      <p:sp>
        <p:nvSpPr>
          <p:cNvPr id="7" name="TextBox 6"/>
          <p:cNvSpPr txBox="1"/>
          <p:nvPr/>
        </p:nvSpPr>
        <p:spPr>
          <a:xfrm>
            <a:off x="548640" y="2011680"/>
            <a:ext cx="10972800" cy="914400"/>
          </a:xfrm>
          <a:prstGeom prst="rect">
            <a:avLst/>
          </a:prstGeom>
          <a:noFill/>
        </p:spPr>
        <p:txBody>
          <a:bodyPr wrap="square" lIns="0" rIns="0" tIns="0" bIns="0" anchor="t">
            <a:spAutoFit/>
          </a:bodyPr>
          <a:lstStyle/>
          <a:p>
            <a:pPr algn="l"/>
            <a:r>
              <a:rPr sz="3400" b="1">
                <a:solidFill>
                  <a:srgbClr val="E9ECF2"/>
                </a:solidFill>
                <a:latin typeface="Calibri"/>
              </a:rPr>
              <a:t>Every investigation, public and private, on one chain.</a:t>
            </a:r>
          </a:p>
        </p:txBody>
      </p:sp>
      <p:sp>
        <p:nvSpPr>
          <p:cNvPr id="8" name="TextBox 7"/>
          <p:cNvSpPr txBox="1"/>
          <p:nvPr/>
        </p:nvSpPr>
        <p:spPr>
          <a:xfrm>
            <a:off x="548640" y="3017520"/>
            <a:ext cx="11064240" cy="2743200"/>
          </a:xfrm>
          <a:prstGeom prst="rect">
            <a:avLst/>
          </a:prstGeom>
          <a:noFill/>
        </p:spPr>
        <p:txBody>
          <a:bodyPr wrap="square" lIns="0" rIns="0" tIns="0" bIns="0" anchor="t">
            <a:spAutoFit/>
          </a:bodyPr>
          <a:lstStyle/>
          <a:p>
            <a:pPr algn="l"/>
            <a:r>
              <a:rPr sz="1500" b="0">
                <a:solidFill>
                  <a:srgbClr val="9AA3B2"/>
                </a:solidFill>
                <a:latin typeface="Calibri"/>
              </a:rPr>
              <a:t>Forenix-oss starts as the analyst's daily driver. It ends as the default substrate for investigative work — wherever public-source intelligence meets evidentiary standards. Investigators talk to investigators. The product that survives a single court challenge is the product the field standardises on. We're building for exactly that moment, and we're building it in the open so the next generation of investigators starts with infrastructure instead of spreadsheets.</a:t>
            </a:r>
          </a:p>
        </p:txBody>
      </p:sp>
      <p:sp>
        <p:nvSpPr>
          <p:cNvPr id="9" name="TextBox 8"/>
          <p:cNvSpPr txBox="1"/>
          <p:nvPr/>
        </p:nvSpPr>
        <p:spPr>
          <a:xfrm>
            <a:off x="548640" y="5943600"/>
            <a:ext cx="10972800" cy="457200"/>
          </a:xfrm>
          <a:prstGeom prst="rect">
            <a:avLst/>
          </a:prstGeom>
          <a:noFill/>
        </p:spPr>
        <p:txBody>
          <a:bodyPr wrap="square" lIns="0" rIns="0" tIns="0" bIns="0" anchor="t">
            <a:spAutoFit/>
          </a:bodyPr>
          <a:lstStyle/>
          <a:p>
            <a:pPr algn="l"/>
            <a:r>
              <a:rPr sz="1800" b="1">
                <a:solidFill>
                  <a:srgbClr val="14B8A6"/>
                </a:solidFill>
                <a:latin typeface="Calibri"/>
              </a:rPr>
              <a:t>OSINT × Forensics, one workflow, one chain.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